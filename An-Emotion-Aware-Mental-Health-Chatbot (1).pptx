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2C30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94" y="4844489"/>
            <a:ext cx="1071841" cy="25603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010779" y="4853350"/>
            <a:ext cx="1094740" cy="262255"/>
          </a:xfrm>
          <a:custGeom>
            <a:avLst/>
            <a:gdLst/>
            <a:ahLst/>
            <a:cxnLst/>
            <a:rect l="l" t="t" r="r" b="b"/>
            <a:pathLst>
              <a:path w="1094740" h="262254">
                <a:moveTo>
                  <a:pt x="1094308" y="0"/>
                </a:moveTo>
                <a:lnTo>
                  <a:pt x="0" y="0"/>
                </a:lnTo>
                <a:lnTo>
                  <a:pt x="0" y="262242"/>
                </a:lnTo>
                <a:lnTo>
                  <a:pt x="1094308" y="262242"/>
                </a:lnTo>
                <a:lnTo>
                  <a:pt x="1094308" y="0"/>
                </a:lnTo>
                <a:close/>
              </a:path>
            </a:pathLst>
          </a:custGeom>
          <a:solidFill>
            <a:srgbClr val="2E30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2C30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194" y="4844489"/>
            <a:ext cx="1071841" cy="2560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1640" y="317372"/>
            <a:ext cx="6322339" cy="6402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13123" y="1718005"/>
            <a:ext cx="4595495" cy="1478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9144000" cy="5143500"/>
            <a:chOff x="0" y="-1"/>
            <a:chExt cx="9144000" cy="514350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3428999" cy="5143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29000" y="3346197"/>
              <a:ext cx="5715000" cy="45720"/>
            </a:xfrm>
            <a:custGeom>
              <a:avLst/>
              <a:gdLst/>
              <a:ahLst/>
              <a:cxnLst/>
              <a:rect l="l" t="t" r="r" b="b"/>
              <a:pathLst>
                <a:path w="5715000" h="45720">
                  <a:moveTo>
                    <a:pt x="571500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5715000" y="45718"/>
                  </a:lnTo>
                  <a:lnTo>
                    <a:pt x="5715000" y="0"/>
                  </a:lnTo>
                  <a:close/>
                </a:path>
              </a:pathLst>
            </a:custGeom>
            <a:solidFill>
              <a:srgbClr val="D5D9D6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010779" y="4853350"/>
              <a:ext cx="1094740" cy="262255"/>
            </a:xfrm>
            <a:custGeom>
              <a:avLst/>
              <a:gdLst/>
              <a:ahLst/>
              <a:cxnLst/>
              <a:rect l="l" t="t" r="r" b="b"/>
              <a:pathLst>
                <a:path w="1094740" h="262254">
                  <a:moveTo>
                    <a:pt x="1094308" y="0"/>
                  </a:moveTo>
                  <a:lnTo>
                    <a:pt x="0" y="0"/>
                  </a:lnTo>
                  <a:lnTo>
                    <a:pt x="0" y="262242"/>
                  </a:lnTo>
                  <a:lnTo>
                    <a:pt x="1094308" y="262242"/>
                  </a:lnTo>
                  <a:lnTo>
                    <a:pt x="1094308" y="0"/>
                  </a:lnTo>
                  <a:close/>
                </a:path>
              </a:pathLst>
            </a:custGeom>
            <a:solidFill>
              <a:srgbClr val="2E30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2353" y="132676"/>
              <a:ext cx="603554" cy="5060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02933" y="3391915"/>
              <a:ext cx="0" cy="1746885"/>
            </a:xfrm>
            <a:custGeom>
              <a:avLst/>
              <a:gdLst/>
              <a:ahLst/>
              <a:cxnLst/>
              <a:rect l="l" t="t" r="r" b="b"/>
              <a:pathLst>
                <a:path w="0" h="1746885">
                  <a:moveTo>
                    <a:pt x="0" y="0"/>
                  </a:moveTo>
                  <a:lnTo>
                    <a:pt x="0" y="1746445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913123" y="1152271"/>
            <a:ext cx="17830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MindCare</a:t>
            </a:r>
            <a:r>
              <a:rPr dirty="0" spc="-60"/>
              <a:t> </a:t>
            </a:r>
            <a:r>
              <a:rPr dirty="0" spc="-25"/>
              <a:t>AI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ts val="4190"/>
              </a:lnSpc>
              <a:spcBef>
                <a:spcPts val="95"/>
              </a:spcBef>
            </a:pPr>
            <a:r>
              <a:rPr dirty="0" spc="80"/>
              <a:t>An</a:t>
            </a:r>
            <a:r>
              <a:rPr dirty="0" spc="-85"/>
              <a:t> </a:t>
            </a:r>
            <a:r>
              <a:rPr dirty="0" spc="185"/>
              <a:t>Emotion-</a:t>
            </a:r>
            <a:r>
              <a:rPr dirty="0" spc="85"/>
              <a:t>Aware </a:t>
            </a:r>
            <a:r>
              <a:rPr dirty="0" spc="130"/>
              <a:t>Mental</a:t>
            </a:r>
            <a:r>
              <a:rPr dirty="0" spc="-65"/>
              <a:t> </a:t>
            </a:r>
            <a:r>
              <a:rPr dirty="0" spc="95"/>
              <a:t>Health</a:t>
            </a:r>
            <a:r>
              <a:rPr dirty="0" spc="-60"/>
              <a:t> </a:t>
            </a:r>
            <a:r>
              <a:rPr dirty="0" spc="190"/>
              <a:t>Chatbot</a:t>
            </a: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Delivering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Empathetic,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Personalized</a:t>
            </a:r>
            <a:r>
              <a:rPr dirty="0" sz="9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Mental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Wellness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Support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5550" y="3496817"/>
            <a:ext cx="2790190" cy="942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Georgia"/>
                <a:cs typeface="Georgia"/>
              </a:rPr>
              <a:t>PRESENTED</a:t>
            </a:r>
            <a:r>
              <a:rPr dirty="0" sz="1800" spc="-6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00" spc="-20">
                <a:solidFill>
                  <a:srgbClr val="FFFFFF"/>
                </a:solidFill>
                <a:latin typeface="Georgia"/>
                <a:cs typeface="Georgia"/>
              </a:rPr>
              <a:t>GARGI</a:t>
            </a:r>
            <a:r>
              <a:rPr dirty="0" sz="1400" spc="-6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>
                <a:solidFill>
                  <a:srgbClr val="FFFFFF"/>
                </a:solidFill>
                <a:latin typeface="Georgia"/>
                <a:cs typeface="Georgia"/>
              </a:rPr>
              <a:t>DAS</a:t>
            </a:r>
            <a:r>
              <a:rPr dirty="0" sz="1400" spc="-6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eorgia"/>
                <a:cs typeface="Georgia"/>
              </a:rPr>
              <a:t>(434124010044)</a:t>
            </a:r>
            <a:endParaRPr sz="14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dirty="0" sz="1400" spc="-90">
                <a:solidFill>
                  <a:srgbClr val="FFFFFF"/>
                </a:solidFill>
                <a:latin typeface="Georgia"/>
                <a:cs typeface="Georgia"/>
              </a:rPr>
              <a:t>ARIJIT</a:t>
            </a:r>
            <a:r>
              <a:rPr dirty="0" sz="1400" spc="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Georgia"/>
                <a:cs typeface="Georgia"/>
              </a:rPr>
              <a:t>SASMAL</a:t>
            </a:r>
            <a:r>
              <a:rPr dirty="0" sz="1400" spc="-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eorgia"/>
                <a:cs typeface="Georgia"/>
              </a:rPr>
              <a:t>(434124010056) </a:t>
            </a:r>
            <a:r>
              <a:rPr dirty="0" sz="1400">
                <a:solidFill>
                  <a:srgbClr val="FFFFFF"/>
                </a:solidFill>
                <a:latin typeface="Georgia"/>
                <a:cs typeface="Georgia"/>
              </a:rPr>
              <a:t>MD</a:t>
            </a:r>
            <a:r>
              <a:rPr dirty="0" sz="1400" spc="-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eorgia"/>
                <a:cs typeface="Georgia"/>
              </a:rPr>
              <a:t>MUFID</a:t>
            </a:r>
            <a:r>
              <a:rPr dirty="0" sz="1400" spc="-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Georgia"/>
                <a:cs typeface="Georgia"/>
              </a:rPr>
              <a:t>ALAM</a:t>
            </a:r>
            <a:r>
              <a:rPr dirty="0" sz="1400" spc="-40">
                <a:solidFill>
                  <a:srgbClr val="FFFFFF"/>
                </a:solidFill>
                <a:latin typeface="Georgia"/>
                <a:cs typeface="Georgia"/>
              </a:rPr>
              <a:t> (434124010046)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08375" y="3498341"/>
            <a:ext cx="25679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FFFFFF"/>
                </a:solidFill>
                <a:latin typeface="Georgia"/>
                <a:cs typeface="Georgia"/>
              </a:rPr>
              <a:t>UNDER</a:t>
            </a:r>
            <a:r>
              <a:rPr dirty="0" sz="1400" spc="-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dirty="0" sz="1400" spc="-30">
                <a:solidFill>
                  <a:srgbClr val="FFFFFF"/>
                </a:solidFill>
                <a:latin typeface="Georgia"/>
                <a:cs typeface="Georgia"/>
              </a:rPr>
              <a:t> SUPERVISION</a:t>
            </a:r>
            <a:r>
              <a:rPr dirty="0" sz="1400" spc="-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eorgia"/>
                <a:cs typeface="Georgia"/>
              </a:rPr>
              <a:t>OF </a:t>
            </a:r>
            <a:r>
              <a:rPr dirty="0" sz="1400" spc="-20">
                <a:solidFill>
                  <a:srgbClr val="FFFFFF"/>
                </a:solidFill>
                <a:latin typeface="Georgia"/>
                <a:cs typeface="Georgia"/>
              </a:rPr>
              <a:t>PROF.</a:t>
            </a:r>
            <a:r>
              <a:rPr dirty="0" sz="1400" spc="-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eorgia"/>
                <a:cs typeface="Georgia"/>
              </a:rPr>
              <a:t>SUDIP</a:t>
            </a:r>
            <a:r>
              <a:rPr dirty="0" sz="1400" spc="-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eorgia"/>
                <a:cs typeface="Georgia"/>
              </a:rPr>
              <a:t>DAS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-1"/>
            <a:ext cx="3429000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0349" y="394538"/>
            <a:ext cx="4691380" cy="3771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/>
              <a:t>The</a:t>
            </a:r>
            <a:r>
              <a:rPr dirty="0" sz="2300" spc="-55"/>
              <a:t> </a:t>
            </a:r>
            <a:r>
              <a:rPr dirty="0" sz="2300" spc="55"/>
              <a:t>Gap</a:t>
            </a:r>
            <a:r>
              <a:rPr dirty="0" sz="2300" spc="-55"/>
              <a:t> </a:t>
            </a:r>
            <a:r>
              <a:rPr dirty="0" sz="2300" spc="70"/>
              <a:t>in</a:t>
            </a:r>
            <a:r>
              <a:rPr dirty="0" sz="2300" spc="-45"/>
              <a:t> </a:t>
            </a:r>
            <a:r>
              <a:rPr dirty="0" sz="2300" spc="90"/>
              <a:t>Mental</a:t>
            </a:r>
            <a:r>
              <a:rPr dirty="0" sz="2300" spc="-70"/>
              <a:t> </a:t>
            </a:r>
            <a:r>
              <a:rPr dirty="0" sz="2300" spc="65"/>
              <a:t>Health</a:t>
            </a:r>
            <a:r>
              <a:rPr dirty="0" sz="2300" spc="-65"/>
              <a:t> </a:t>
            </a:r>
            <a:r>
              <a:rPr dirty="0" sz="2300" spc="100"/>
              <a:t>Support</a:t>
            </a:r>
            <a:endParaRPr sz="2300"/>
          </a:p>
        </p:txBody>
      </p:sp>
      <p:grpSp>
        <p:nvGrpSpPr>
          <p:cNvPr id="4" name="object 4"/>
          <p:cNvGrpSpPr/>
          <p:nvPr/>
        </p:nvGrpSpPr>
        <p:grpSpPr>
          <a:xfrm>
            <a:off x="458609" y="1824069"/>
            <a:ext cx="4791075" cy="901065"/>
            <a:chOff x="458609" y="1824069"/>
            <a:chExt cx="4791075" cy="901065"/>
          </a:xfrm>
        </p:grpSpPr>
        <p:sp>
          <p:nvSpPr>
            <p:cNvPr id="5" name="object 5"/>
            <p:cNvSpPr/>
            <p:nvPr/>
          </p:nvSpPr>
          <p:spPr>
            <a:xfrm>
              <a:off x="472897" y="1831213"/>
              <a:ext cx="4769485" cy="887094"/>
            </a:xfrm>
            <a:custGeom>
              <a:avLst/>
              <a:gdLst/>
              <a:ahLst/>
              <a:cxnLst/>
              <a:rect l="l" t="t" r="r" b="b"/>
              <a:pathLst>
                <a:path w="4769485" h="887094">
                  <a:moveTo>
                    <a:pt x="4700574" y="0"/>
                  </a:moveTo>
                  <a:lnTo>
                    <a:pt x="68580" y="0"/>
                  </a:lnTo>
                  <a:lnTo>
                    <a:pt x="41887" y="5375"/>
                  </a:lnTo>
                  <a:lnTo>
                    <a:pt x="20088" y="20050"/>
                  </a:lnTo>
                  <a:lnTo>
                    <a:pt x="5389" y="41844"/>
                  </a:lnTo>
                  <a:lnTo>
                    <a:pt x="0" y="68580"/>
                  </a:lnTo>
                  <a:lnTo>
                    <a:pt x="0" y="818007"/>
                  </a:lnTo>
                  <a:lnTo>
                    <a:pt x="5389" y="844688"/>
                  </a:lnTo>
                  <a:lnTo>
                    <a:pt x="20088" y="866489"/>
                  </a:lnTo>
                  <a:lnTo>
                    <a:pt x="41887" y="881193"/>
                  </a:lnTo>
                  <a:lnTo>
                    <a:pt x="68580" y="886587"/>
                  </a:lnTo>
                  <a:lnTo>
                    <a:pt x="4700574" y="886587"/>
                  </a:lnTo>
                  <a:lnTo>
                    <a:pt x="4727310" y="881193"/>
                  </a:lnTo>
                  <a:lnTo>
                    <a:pt x="4749104" y="866489"/>
                  </a:lnTo>
                  <a:lnTo>
                    <a:pt x="4763779" y="844688"/>
                  </a:lnTo>
                  <a:lnTo>
                    <a:pt x="4769154" y="818007"/>
                  </a:lnTo>
                  <a:lnTo>
                    <a:pt x="4769154" y="68580"/>
                  </a:lnTo>
                  <a:lnTo>
                    <a:pt x="4763779" y="41844"/>
                  </a:lnTo>
                  <a:lnTo>
                    <a:pt x="4749104" y="20050"/>
                  </a:lnTo>
                  <a:lnTo>
                    <a:pt x="4727310" y="5375"/>
                  </a:lnTo>
                  <a:lnTo>
                    <a:pt x="4700574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2897" y="1831213"/>
              <a:ext cx="4769485" cy="887094"/>
            </a:xfrm>
            <a:custGeom>
              <a:avLst/>
              <a:gdLst/>
              <a:ahLst/>
              <a:cxnLst/>
              <a:rect l="l" t="t" r="r" b="b"/>
              <a:pathLst>
                <a:path w="4769485" h="887094">
                  <a:moveTo>
                    <a:pt x="0" y="68580"/>
                  </a:moveTo>
                  <a:lnTo>
                    <a:pt x="5389" y="41844"/>
                  </a:lnTo>
                  <a:lnTo>
                    <a:pt x="20088" y="20050"/>
                  </a:lnTo>
                  <a:lnTo>
                    <a:pt x="41887" y="5375"/>
                  </a:lnTo>
                  <a:lnTo>
                    <a:pt x="68580" y="0"/>
                  </a:lnTo>
                  <a:lnTo>
                    <a:pt x="4700574" y="0"/>
                  </a:lnTo>
                  <a:lnTo>
                    <a:pt x="4727310" y="5375"/>
                  </a:lnTo>
                  <a:lnTo>
                    <a:pt x="4749104" y="20050"/>
                  </a:lnTo>
                  <a:lnTo>
                    <a:pt x="4763779" y="41844"/>
                  </a:lnTo>
                  <a:lnTo>
                    <a:pt x="4769154" y="68580"/>
                  </a:lnTo>
                  <a:lnTo>
                    <a:pt x="4769154" y="818007"/>
                  </a:lnTo>
                  <a:lnTo>
                    <a:pt x="4763779" y="844688"/>
                  </a:lnTo>
                  <a:lnTo>
                    <a:pt x="4749104" y="866489"/>
                  </a:lnTo>
                  <a:lnTo>
                    <a:pt x="4727310" y="881193"/>
                  </a:lnTo>
                  <a:lnTo>
                    <a:pt x="4700574" y="886587"/>
                  </a:lnTo>
                  <a:lnTo>
                    <a:pt x="68580" y="886587"/>
                  </a:lnTo>
                  <a:lnTo>
                    <a:pt x="41887" y="881193"/>
                  </a:lnTo>
                  <a:lnTo>
                    <a:pt x="20088" y="866489"/>
                  </a:lnTo>
                  <a:lnTo>
                    <a:pt x="5389" y="844688"/>
                  </a:lnTo>
                  <a:lnTo>
                    <a:pt x="0" y="818007"/>
                  </a:lnTo>
                  <a:lnTo>
                    <a:pt x="0" y="68580"/>
                  </a:lnTo>
                  <a:close/>
                </a:path>
              </a:pathLst>
            </a:custGeom>
            <a:ln w="14287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8609" y="1831213"/>
              <a:ext cx="57150" cy="887094"/>
            </a:xfrm>
            <a:custGeom>
              <a:avLst/>
              <a:gdLst/>
              <a:ahLst/>
              <a:cxnLst/>
              <a:rect l="l" t="t" r="r" b="b"/>
              <a:pathLst>
                <a:path w="57150" h="887094">
                  <a:moveTo>
                    <a:pt x="49212" y="0"/>
                  </a:moveTo>
                  <a:lnTo>
                    <a:pt x="7950" y="0"/>
                  </a:lnTo>
                  <a:lnTo>
                    <a:pt x="0" y="7874"/>
                  </a:lnTo>
                  <a:lnTo>
                    <a:pt x="0" y="17652"/>
                  </a:lnTo>
                  <a:lnTo>
                    <a:pt x="0" y="878586"/>
                  </a:lnTo>
                  <a:lnTo>
                    <a:pt x="7950" y="886587"/>
                  </a:lnTo>
                  <a:lnTo>
                    <a:pt x="49212" y="886587"/>
                  </a:lnTo>
                  <a:lnTo>
                    <a:pt x="57150" y="878586"/>
                  </a:lnTo>
                  <a:lnTo>
                    <a:pt x="57150" y="7874"/>
                  </a:lnTo>
                  <a:lnTo>
                    <a:pt x="49212" y="0"/>
                  </a:lnTo>
                  <a:close/>
                </a:path>
              </a:pathLst>
            </a:custGeom>
            <a:solidFill>
              <a:srgbClr val="AC9E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60349" y="932339"/>
            <a:ext cx="4787900" cy="1632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95"/>
              </a:spcBef>
            </a:pP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Mental</a:t>
            </a:r>
            <a:r>
              <a:rPr dirty="0" sz="90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health</a:t>
            </a:r>
            <a:r>
              <a:rPr dirty="0" sz="90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care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remains</a:t>
            </a:r>
            <a:r>
              <a:rPr dirty="0" sz="90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out</a:t>
            </a:r>
            <a:r>
              <a:rPr dirty="0" sz="90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of</a:t>
            </a:r>
            <a:r>
              <a:rPr dirty="0" sz="90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reach</a:t>
            </a:r>
            <a:r>
              <a:rPr dirty="0" sz="90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dirty="0" sz="90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millions</a:t>
            </a:r>
            <a:r>
              <a:rPr dirty="0" sz="90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80">
                <a:solidFill>
                  <a:srgbClr val="D5D9D6"/>
                </a:solidFill>
                <a:latin typeface="Tahoma"/>
                <a:cs typeface="Tahoma"/>
              </a:rPr>
              <a:t>—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not</a:t>
            </a:r>
            <a:r>
              <a:rPr dirty="0" sz="90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because</a:t>
            </a:r>
            <a:r>
              <a:rPr dirty="0" sz="90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solutions</a:t>
            </a:r>
            <a:r>
              <a:rPr dirty="0" sz="90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don't</a:t>
            </a:r>
            <a:r>
              <a:rPr dirty="0" sz="90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D5D9D6"/>
                </a:solidFill>
                <a:latin typeface="Tahoma"/>
                <a:cs typeface="Tahoma"/>
              </a:rPr>
              <a:t>exist,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but</a:t>
            </a:r>
            <a:r>
              <a:rPr dirty="0" sz="90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because </a:t>
            </a:r>
            <a:r>
              <a:rPr dirty="0" sz="900" spc="45">
                <a:solidFill>
                  <a:srgbClr val="D5D9D6"/>
                </a:solidFill>
                <a:latin typeface="Tahoma"/>
                <a:cs typeface="Tahoma"/>
              </a:rPr>
              <a:t>systemic</a:t>
            </a:r>
            <a:r>
              <a:rPr dirty="0" sz="90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barriers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prevent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people</a:t>
            </a:r>
            <a:r>
              <a:rPr dirty="0" sz="90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from</a:t>
            </a:r>
            <a:r>
              <a:rPr dirty="0" sz="90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55">
                <a:solidFill>
                  <a:srgbClr val="D5D9D6"/>
                </a:solidFill>
                <a:latin typeface="Tahoma"/>
                <a:cs typeface="Tahoma"/>
              </a:rPr>
              <a:t>accessing</a:t>
            </a:r>
            <a:r>
              <a:rPr dirty="0" sz="90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them.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0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problem</a:t>
            </a:r>
            <a:r>
              <a:rPr dirty="0" sz="90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D5D9D6"/>
                </a:solidFill>
                <a:latin typeface="Tahoma"/>
                <a:cs typeface="Tahoma"/>
              </a:rPr>
              <a:t>is </a:t>
            </a:r>
            <a:r>
              <a:rPr dirty="0" sz="900" spc="45">
                <a:solidFill>
                  <a:srgbClr val="D5D9D6"/>
                </a:solidFill>
                <a:latin typeface="Tahoma"/>
                <a:cs typeface="Tahoma"/>
              </a:rPr>
              <a:t>compounded</a:t>
            </a:r>
            <a:r>
              <a:rPr dirty="0" sz="90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by</a:t>
            </a:r>
            <a:r>
              <a:rPr dirty="0" sz="90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technology</a:t>
            </a:r>
            <a:r>
              <a:rPr dirty="0" sz="90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that</a:t>
            </a:r>
            <a:r>
              <a:rPr dirty="0" sz="90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promises</a:t>
            </a:r>
            <a:r>
              <a:rPr dirty="0" sz="900" spc="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help</a:t>
            </a:r>
            <a:r>
              <a:rPr dirty="0" sz="90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but</a:t>
            </a:r>
            <a:r>
              <a:rPr dirty="0" sz="90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fails to</a:t>
            </a:r>
            <a:r>
              <a:rPr dirty="0" sz="90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deliver</a:t>
            </a:r>
            <a:r>
              <a:rPr dirty="0" sz="90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D5D9D6"/>
                </a:solidFill>
                <a:latin typeface="Tahoma"/>
                <a:cs typeface="Tahoma"/>
              </a:rPr>
              <a:t>genuine</a:t>
            </a:r>
            <a:r>
              <a:rPr dirty="0" sz="900" spc="500">
                <a:solidFill>
                  <a:srgbClr val="D5D9D6"/>
                </a:solidFill>
                <a:latin typeface="Tahoma"/>
                <a:cs typeface="Tahoma"/>
              </a:rPr>
              <a:t>  </a:t>
            </a:r>
            <a:r>
              <a:rPr dirty="0" sz="900" spc="-10">
                <a:solidFill>
                  <a:srgbClr val="D5D9D6"/>
                </a:solidFill>
                <a:latin typeface="Tahoma"/>
                <a:cs typeface="Tahoma"/>
              </a:rPr>
              <a:t>understanding.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</a:pPr>
            <a:r>
              <a:rPr dirty="0" sz="1150">
                <a:solidFill>
                  <a:srgbClr val="D5D9D6"/>
                </a:solidFill>
                <a:latin typeface="Arial MT"/>
                <a:cs typeface="Arial MT"/>
              </a:rPr>
              <a:t>Access</a:t>
            </a:r>
            <a:r>
              <a:rPr dirty="0" sz="1150" spc="229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D5D9D6"/>
                </a:solidFill>
                <a:latin typeface="Arial MT"/>
                <a:cs typeface="Arial MT"/>
              </a:rPr>
              <a:t>Barriers</a:t>
            </a:r>
            <a:endParaRPr sz="1150">
              <a:latin typeface="Arial MT"/>
              <a:cs typeface="Arial MT"/>
            </a:endParaRPr>
          </a:p>
          <a:p>
            <a:pPr marL="187960">
              <a:lnSpc>
                <a:spcPct val="100000"/>
              </a:lnSpc>
              <a:spcBef>
                <a:spcPts val="835"/>
              </a:spcBef>
            </a:pP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Social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stigma,</a:t>
            </a:r>
            <a:r>
              <a:rPr dirty="0" sz="90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high</a:t>
            </a:r>
            <a:r>
              <a:rPr dirty="0" sz="90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therapy</a:t>
            </a:r>
            <a:r>
              <a:rPr dirty="0" sz="90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costs,</a:t>
            </a:r>
            <a:r>
              <a:rPr dirty="0" sz="90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0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long</a:t>
            </a:r>
            <a:r>
              <a:rPr dirty="0" sz="90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waiting</a:t>
            </a:r>
            <a:r>
              <a:rPr dirty="0" sz="90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times</a:t>
            </a:r>
            <a:r>
              <a:rPr dirty="0" sz="90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prevent</a:t>
            </a:r>
            <a:r>
              <a:rPr dirty="0" sz="90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millions</a:t>
            </a:r>
            <a:r>
              <a:rPr dirty="0" sz="90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D5D9D6"/>
                </a:solidFill>
                <a:latin typeface="Tahoma"/>
                <a:cs typeface="Tahoma"/>
              </a:rPr>
              <a:t>from</a:t>
            </a:r>
            <a:endParaRPr sz="90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325"/>
              </a:spcBef>
            </a:pP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seeking</a:t>
            </a:r>
            <a:r>
              <a:rPr dirty="0" sz="90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or</a:t>
            </a:r>
            <a:r>
              <a:rPr dirty="0" sz="90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receiving</a:t>
            </a:r>
            <a:r>
              <a:rPr dirty="0" sz="90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professional</a:t>
            </a:r>
            <a:r>
              <a:rPr dirty="0" sz="90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mental</a:t>
            </a:r>
            <a:r>
              <a:rPr dirty="0" sz="90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health</a:t>
            </a:r>
            <a:r>
              <a:rPr dirty="0" sz="90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care</a:t>
            </a:r>
            <a:r>
              <a:rPr dirty="0" sz="90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when</a:t>
            </a:r>
            <a:r>
              <a:rPr dirty="0" sz="90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they</a:t>
            </a:r>
            <a:r>
              <a:rPr dirty="0" sz="90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need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it</a:t>
            </a:r>
            <a:r>
              <a:rPr dirty="0" sz="90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D5D9D6"/>
                </a:solidFill>
                <a:latin typeface="Tahoma"/>
                <a:cs typeface="Tahoma"/>
              </a:rPr>
              <a:t>most.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8609" y="2823305"/>
            <a:ext cx="4791075" cy="901065"/>
            <a:chOff x="458609" y="2823305"/>
            <a:chExt cx="4791075" cy="901065"/>
          </a:xfrm>
        </p:grpSpPr>
        <p:sp>
          <p:nvSpPr>
            <p:cNvPr id="10" name="object 10"/>
            <p:cNvSpPr/>
            <p:nvPr/>
          </p:nvSpPr>
          <p:spPr>
            <a:xfrm>
              <a:off x="472897" y="2830448"/>
              <a:ext cx="4769485" cy="887094"/>
            </a:xfrm>
            <a:custGeom>
              <a:avLst/>
              <a:gdLst/>
              <a:ahLst/>
              <a:cxnLst/>
              <a:rect l="l" t="t" r="r" b="b"/>
              <a:pathLst>
                <a:path w="4769485" h="887095">
                  <a:moveTo>
                    <a:pt x="4700574" y="0"/>
                  </a:moveTo>
                  <a:lnTo>
                    <a:pt x="68580" y="0"/>
                  </a:lnTo>
                  <a:lnTo>
                    <a:pt x="41887" y="5375"/>
                  </a:lnTo>
                  <a:lnTo>
                    <a:pt x="20088" y="20050"/>
                  </a:lnTo>
                  <a:lnTo>
                    <a:pt x="5389" y="41844"/>
                  </a:lnTo>
                  <a:lnTo>
                    <a:pt x="0" y="68580"/>
                  </a:lnTo>
                  <a:lnTo>
                    <a:pt x="0" y="818007"/>
                  </a:lnTo>
                  <a:lnTo>
                    <a:pt x="5389" y="844688"/>
                  </a:lnTo>
                  <a:lnTo>
                    <a:pt x="20088" y="866489"/>
                  </a:lnTo>
                  <a:lnTo>
                    <a:pt x="41887" y="881193"/>
                  </a:lnTo>
                  <a:lnTo>
                    <a:pt x="68580" y="886587"/>
                  </a:lnTo>
                  <a:lnTo>
                    <a:pt x="4700574" y="886587"/>
                  </a:lnTo>
                  <a:lnTo>
                    <a:pt x="4727310" y="881193"/>
                  </a:lnTo>
                  <a:lnTo>
                    <a:pt x="4749104" y="866489"/>
                  </a:lnTo>
                  <a:lnTo>
                    <a:pt x="4763779" y="844688"/>
                  </a:lnTo>
                  <a:lnTo>
                    <a:pt x="4769154" y="818007"/>
                  </a:lnTo>
                  <a:lnTo>
                    <a:pt x="4769154" y="68580"/>
                  </a:lnTo>
                  <a:lnTo>
                    <a:pt x="4763779" y="41844"/>
                  </a:lnTo>
                  <a:lnTo>
                    <a:pt x="4749104" y="20050"/>
                  </a:lnTo>
                  <a:lnTo>
                    <a:pt x="4727310" y="5375"/>
                  </a:lnTo>
                  <a:lnTo>
                    <a:pt x="4700574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2897" y="2830448"/>
              <a:ext cx="4769485" cy="887094"/>
            </a:xfrm>
            <a:custGeom>
              <a:avLst/>
              <a:gdLst/>
              <a:ahLst/>
              <a:cxnLst/>
              <a:rect l="l" t="t" r="r" b="b"/>
              <a:pathLst>
                <a:path w="4769485" h="887095">
                  <a:moveTo>
                    <a:pt x="0" y="68580"/>
                  </a:moveTo>
                  <a:lnTo>
                    <a:pt x="5389" y="41844"/>
                  </a:lnTo>
                  <a:lnTo>
                    <a:pt x="20088" y="20050"/>
                  </a:lnTo>
                  <a:lnTo>
                    <a:pt x="41887" y="5375"/>
                  </a:lnTo>
                  <a:lnTo>
                    <a:pt x="68580" y="0"/>
                  </a:lnTo>
                  <a:lnTo>
                    <a:pt x="4700574" y="0"/>
                  </a:lnTo>
                  <a:lnTo>
                    <a:pt x="4727310" y="5375"/>
                  </a:lnTo>
                  <a:lnTo>
                    <a:pt x="4749104" y="20050"/>
                  </a:lnTo>
                  <a:lnTo>
                    <a:pt x="4763779" y="41844"/>
                  </a:lnTo>
                  <a:lnTo>
                    <a:pt x="4769154" y="68580"/>
                  </a:lnTo>
                  <a:lnTo>
                    <a:pt x="4769154" y="818007"/>
                  </a:lnTo>
                  <a:lnTo>
                    <a:pt x="4763779" y="844688"/>
                  </a:lnTo>
                  <a:lnTo>
                    <a:pt x="4749104" y="866489"/>
                  </a:lnTo>
                  <a:lnTo>
                    <a:pt x="4727310" y="881193"/>
                  </a:lnTo>
                  <a:lnTo>
                    <a:pt x="4700574" y="886587"/>
                  </a:lnTo>
                  <a:lnTo>
                    <a:pt x="68580" y="886587"/>
                  </a:lnTo>
                  <a:lnTo>
                    <a:pt x="41887" y="881193"/>
                  </a:lnTo>
                  <a:lnTo>
                    <a:pt x="20088" y="866489"/>
                  </a:lnTo>
                  <a:lnTo>
                    <a:pt x="5389" y="844688"/>
                  </a:lnTo>
                  <a:lnTo>
                    <a:pt x="0" y="818007"/>
                  </a:lnTo>
                  <a:lnTo>
                    <a:pt x="0" y="68580"/>
                  </a:lnTo>
                  <a:close/>
                </a:path>
              </a:pathLst>
            </a:custGeom>
            <a:ln w="14287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8609" y="2830448"/>
              <a:ext cx="57150" cy="887094"/>
            </a:xfrm>
            <a:custGeom>
              <a:avLst/>
              <a:gdLst/>
              <a:ahLst/>
              <a:cxnLst/>
              <a:rect l="l" t="t" r="r" b="b"/>
              <a:pathLst>
                <a:path w="57150" h="887095">
                  <a:moveTo>
                    <a:pt x="49212" y="0"/>
                  </a:moveTo>
                  <a:lnTo>
                    <a:pt x="7950" y="0"/>
                  </a:lnTo>
                  <a:lnTo>
                    <a:pt x="0" y="7874"/>
                  </a:lnTo>
                  <a:lnTo>
                    <a:pt x="0" y="17652"/>
                  </a:lnTo>
                  <a:lnTo>
                    <a:pt x="0" y="878585"/>
                  </a:lnTo>
                  <a:lnTo>
                    <a:pt x="7950" y="886587"/>
                  </a:lnTo>
                  <a:lnTo>
                    <a:pt x="49212" y="886587"/>
                  </a:lnTo>
                  <a:lnTo>
                    <a:pt x="57150" y="878585"/>
                  </a:lnTo>
                  <a:lnTo>
                    <a:pt x="57150" y="7874"/>
                  </a:lnTo>
                  <a:lnTo>
                    <a:pt x="49212" y="0"/>
                  </a:lnTo>
                  <a:close/>
                </a:path>
              </a:pathLst>
            </a:custGeom>
            <a:solidFill>
              <a:srgbClr val="AC9E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35609" y="2942081"/>
            <a:ext cx="4136390" cy="62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45">
                <a:solidFill>
                  <a:srgbClr val="D5D9D6"/>
                </a:solidFill>
                <a:latin typeface="Arial MT"/>
                <a:cs typeface="Arial MT"/>
              </a:rPr>
              <a:t>Robotic</a:t>
            </a:r>
            <a:r>
              <a:rPr dirty="0" sz="1150" spc="-4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150" spc="50">
                <a:solidFill>
                  <a:srgbClr val="D5D9D6"/>
                </a:solidFill>
                <a:latin typeface="Arial MT"/>
                <a:cs typeface="Arial MT"/>
              </a:rPr>
              <a:t>Chatbots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Existing</a:t>
            </a:r>
            <a:r>
              <a:rPr dirty="0" sz="90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mental</a:t>
            </a:r>
            <a:r>
              <a:rPr dirty="0" sz="90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health</a:t>
            </a:r>
            <a:r>
              <a:rPr dirty="0" sz="90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chatbots</a:t>
            </a:r>
            <a:r>
              <a:rPr dirty="0" sz="90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rely</a:t>
            </a:r>
            <a:r>
              <a:rPr dirty="0" sz="90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dirty="0" sz="90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simple</a:t>
            </a:r>
            <a:r>
              <a:rPr dirty="0" sz="90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keyword</a:t>
            </a:r>
            <a:r>
              <a:rPr dirty="0" sz="90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matching,</a:t>
            </a:r>
            <a:r>
              <a:rPr dirty="0" sz="90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D5D9D6"/>
                </a:solidFill>
                <a:latin typeface="Tahoma"/>
                <a:cs typeface="Tahoma"/>
              </a:rPr>
              <a:t>producing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repetitive,</a:t>
            </a:r>
            <a:r>
              <a:rPr dirty="0" sz="900" spc="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generic</a:t>
            </a:r>
            <a:r>
              <a:rPr dirty="0" sz="90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responses</a:t>
            </a:r>
            <a:r>
              <a:rPr dirty="0" sz="90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that</a:t>
            </a:r>
            <a:r>
              <a:rPr dirty="0" sz="90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feel</a:t>
            </a:r>
            <a:r>
              <a:rPr dirty="0" sz="90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mechanical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rather</a:t>
            </a:r>
            <a:r>
              <a:rPr dirty="0" sz="90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than</a:t>
            </a:r>
            <a:r>
              <a:rPr dirty="0" sz="90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D5D9D6"/>
                </a:solidFill>
                <a:latin typeface="Tahoma"/>
                <a:cs typeface="Tahoma"/>
              </a:rPr>
              <a:t>supportive.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8609" y="3822541"/>
            <a:ext cx="4791075" cy="901065"/>
            <a:chOff x="458609" y="3822541"/>
            <a:chExt cx="4791075" cy="901065"/>
          </a:xfrm>
        </p:grpSpPr>
        <p:sp>
          <p:nvSpPr>
            <p:cNvPr id="15" name="object 15"/>
            <p:cNvSpPr/>
            <p:nvPr/>
          </p:nvSpPr>
          <p:spPr>
            <a:xfrm>
              <a:off x="472897" y="3829684"/>
              <a:ext cx="4769485" cy="887094"/>
            </a:xfrm>
            <a:custGeom>
              <a:avLst/>
              <a:gdLst/>
              <a:ahLst/>
              <a:cxnLst/>
              <a:rect l="l" t="t" r="r" b="b"/>
              <a:pathLst>
                <a:path w="4769485" h="887095">
                  <a:moveTo>
                    <a:pt x="4700574" y="0"/>
                  </a:moveTo>
                  <a:lnTo>
                    <a:pt x="68580" y="0"/>
                  </a:lnTo>
                  <a:lnTo>
                    <a:pt x="41887" y="5374"/>
                  </a:lnTo>
                  <a:lnTo>
                    <a:pt x="20088" y="20043"/>
                  </a:lnTo>
                  <a:lnTo>
                    <a:pt x="5389" y="41823"/>
                  </a:lnTo>
                  <a:lnTo>
                    <a:pt x="0" y="68529"/>
                  </a:lnTo>
                  <a:lnTo>
                    <a:pt x="0" y="817956"/>
                  </a:lnTo>
                  <a:lnTo>
                    <a:pt x="5389" y="844646"/>
                  </a:lnTo>
                  <a:lnTo>
                    <a:pt x="20088" y="866441"/>
                  </a:lnTo>
                  <a:lnTo>
                    <a:pt x="41887" y="881135"/>
                  </a:lnTo>
                  <a:lnTo>
                    <a:pt x="68580" y="886523"/>
                  </a:lnTo>
                  <a:lnTo>
                    <a:pt x="4700574" y="886523"/>
                  </a:lnTo>
                  <a:lnTo>
                    <a:pt x="4727310" y="881135"/>
                  </a:lnTo>
                  <a:lnTo>
                    <a:pt x="4749104" y="866441"/>
                  </a:lnTo>
                  <a:lnTo>
                    <a:pt x="4763779" y="844646"/>
                  </a:lnTo>
                  <a:lnTo>
                    <a:pt x="4769154" y="817956"/>
                  </a:lnTo>
                  <a:lnTo>
                    <a:pt x="4769154" y="68529"/>
                  </a:lnTo>
                  <a:lnTo>
                    <a:pt x="4763779" y="41823"/>
                  </a:lnTo>
                  <a:lnTo>
                    <a:pt x="4749104" y="20043"/>
                  </a:lnTo>
                  <a:lnTo>
                    <a:pt x="4727310" y="5374"/>
                  </a:lnTo>
                  <a:lnTo>
                    <a:pt x="4700574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72897" y="3829684"/>
              <a:ext cx="4769485" cy="887094"/>
            </a:xfrm>
            <a:custGeom>
              <a:avLst/>
              <a:gdLst/>
              <a:ahLst/>
              <a:cxnLst/>
              <a:rect l="l" t="t" r="r" b="b"/>
              <a:pathLst>
                <a:path w="4769485" h="887095">
                  <a:moveTo>
                    <a:pt x="0" y="68529"/>
                  </a:moveTo>
                  <a:lnTo>
                    <a:pt x="5389" y="41823"/>
                  </a:lnTo>
                  <a:lnTo>
                    <a:pt x="20088" y="20043"/>
                  </a:lnTo>
                  <a:lnTo>
                    <a:pt x="41887" y="5374"/>
                  </a:lnTo>
                  <a:lnTo>
                    <a:pt x="68580" y="0"/>
                  </a:lnTo>
                  <a:lnTo>
                    <a:pt x="4700574" y="0"/>
                  </a:lnTo>
                  <a:lnTo>
                    <a:pt x="4727310" y="5374"/>
                  </a:lnTo>
                  <a:lnTo>
                    <a:pt x="4749104" y="20043"/>
                  </a:lnTo>
                  <a:lnTo>
                    <a:pt x="4763779" y="41823"/>
                  </a:lnTo>
                  <a:lnTo>
                    <a:pt x="4769154" y="68529"/>
                  </a:lnTo>
                  <a:lnTo>
                    <a:pt x="4769154" y="817956"/>
                  </a:lnTo>
                  <a:lnTo>
                    <a:pt x="4763779" y="844646"/>
                  </a:lnTo>
                  <a:lnTo>
                    <a:pt x="4749104" y="866441"/>
                  </a:lnTo>
                  <a:lnTo>
                    <a:pt x="4727310" y="881135"/>
                  </a:lnTo>
                  <a:lnTo>
                    <a:pt x="4700574" y="886523"/>
                  </a:lnTo>
                  <a:lnTo>
                    <a:pt x="68580" y="886523"/>
                  </a:lnTo>
                  <a:lnTo>
                    <a:pt x="41887" y="881135"/>
                  </a:lnTo>
                  <a:lnTo>
                    <a:pt x="20088" y="866441"/>
                  </a:lnTo>
                  <a:lnTo>
                    <a:pt x="5389" y="844646"/>
                  </a:lnTo>
                  <a:lnTo>
                    <a:pt x="0" y="817956"/>
                  </a:lnTo>
                  <a:lnTo>
                    <a:pt x="0" y="68529"/>
                  </a:lnTo>
                  <a:close/>
                </a:path>
              </a:pathLst>
            </a:custGeom>
            <a:ln w="14287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8609" y="3829684"/>
              <a:ext cx="57150" cy="887094"/>
            </a:xfrm>
            <a:custGeom>
              <a:avLst/>
              <a:gdLst/>
              <a:ahLst/>
              <a:cxnLst/>
              <a:rect l="l" t="t" r="r" b="b"/>
              <a:pathLst>
                <a:path w="57150" h="887095">
                  <a:moveTo>
                    <a:pt x="49212" y="0"/>
                  </a:moveTo>
                  <a:lnTo>
                    <a:pt x="7950" y="0"/>
                  </a:lnTo>
                  <a:lnTo>
                    <a:pt x="0" y="7873"/>
                  </a:lnTo>
                  <a:lnTo>
                    <a:pt x="0" y="17652"/>
                  </a:lnTo>
                  <a:lnTo>
                    <a:pt x="0" y="878585"/>
                  </a:lnTo>
                  <a:lnTo>
                    <a:pt x="7950" y="886523"/>
                  </a:lnTo>
                  <a:lnTo>
                    <a:pt x="49212" y="886523"/>
                  </a:lnTo>
                  <a:lnTo>
                    <a:pt x="57150" y="878585"/>
                  </a:lnTo>
                  <a:lnTo>
                    <a:pt x="57150" y="7873"/>
                  </a:lnTo>
                  <a:lnTo>
                    <a:pt x="49212" y="0"/>
                  </a:lnTo>
                  <a:close/>
                </a:path>
              </a:pathLst>
            </a:custGeom>
            <a:solidFill>
              <a:srgbClr val="AC9E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5609" y="3941470"/>
            <a:ext cx="4327525" cy="62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0">
                <a:solidFill>
                  <a:srgbClr val="D5D9D6"/>
                </a:solidFill>
                <a:latin typeface="Arial MT"/>
                <a:cs typeface="Arial MT"/>
              </a:rPr>
              <a:t>Emotional</a:t>
            </a:r>
            <a:r>
              <a:rPr dirty="0" sz="1150" spc="13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D5D9D6"/>
                </a:solidFill>
                <a:latin typeface="Arial MT"/>
                <a:cs typeface="Arial MT"/>
              </a:rPr>
              <a:t>Blindness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30000"/>
              </a:lnSpc>
              <a:spcBef>
                <a:spcPts val="509"/>
              </a:spcBef>
            </a:pP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Current</a:t>
            </a:r>
            <a:r>
              <a:rPr dirty="0" sz="90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tools</a:t>
            </a:r>
            <a:r>
              <a:rPr dirty="0" sz="90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fail</a:t>
            </a:r>
            <a:r>
              <a:rPr dirty="0" sz="90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90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understand</a:t>
            </a:r>
            <a:r>
              <a:rPr dirty="0" sz="90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0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user's</a:t>
            </a:r>
            <a:r>
              <a:rPr dirty="0" sz="90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emotional</a:t>
            </a:r>
            <a:r>
              <a:rPr dirty="0" sz="90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context,</a:t>
            </a:r>
            <a:r>
              <a:rPr dirty="0" sz="90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D5D9D6"/>
                </a:solidFill>
                <a:latin typeface="Tahoma"/>
                <a:cs typeface="Tahoma"/>
              </a:rPr>
              <a:t>leaving</a:t>
            </a:r>
            <a:r>
              <a:rPr dirty="0" sz="90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D5D9D6"/>
                </a:solidFill>
                <a:latin typeface="Tahoma"/>
                <a:cs typeface="Tahoma"/>
              </a:rPr>
              <a:t>individuals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feeling</a:t>
            </a:r>
            <a:r>
              <a:rPr dirty="0" sz="90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unheard,</a:t>
            </a:r>
            <a:r>
              <a:rPr dirty="0" sz="90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unsupported,</a:t>
            </a:r>
            <a:r>
              <a:rPr dirty="0" sz="90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0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ultimately</a:t>
            </a:r>
            <a:r>
              <a:rPr dirty="0" sz="9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disengaged</a:t>
            </a:r>
            <a:r>
              <a:rPr dirty="0" sz="90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from</a:t>
            </a:r>
            <a:r>
              <a:rPr dirty="0" sz="90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0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D5D9D6"/>
                </a:solidFill>
                <a:latin typeface="Tahoma"/>
                <a:cs typeface="Tahoma"/>
              </a:rPr>
              <a:t>experience.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10779" y="4853350"/>
            <a:ext cx="1094740" cy="262255"/>
          </a:xfrm>
          <a:custGeom>
            <a:avLst/>
            <a:gdLst/>
            <a:ahLst/>
            <a:cxnLst/>
            <a:rect l="l" t="t" r="r" b="b"/>
            <a:pathLst>
              <a:path w="1094740" h="262254">
                <a:moveTo>
                  <a:pt x="1094308" y="0"/>
                </a:moveTo>
                <a:lnTo>
                  <a:pt x="0" y="0"/>
                </a:lnTo>
                <a:lnTo>
                  <a:pt x="0" y="262242"/>
                </a:lnTo>
                <a:lnTo>
                  <a:pt x="1094308" y="262242"/>
                </a:lnTo>
                <a:lnTo>
                  <a:pt x="1094308" y="0"/>
                </a:lnTo>
                <a:close/>
              </a:path>
            </a:pathLst>
          </a:custGeom>
          <a:solidFill>
            <a:srgbClr val="2E30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3514" y="777366"/>
            <a:ext cx="35210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Introducing</a:t>
            </a:r>
            <a:r>
              <a:rPr dirty="0" spc="-35"/>
              <a:t> </a:t>
            </a:r>
            <a:r>
              <a:rPr dirty="0" spc="70"/>
              <a:t>MindCare</a:t>
            </a:r>
            <a:r>
              <a:rPr dirty="0" spc="-65"/>
              <a:t> </a:t>
            </a:r>
            <a:r>
              <a:rPr dirty="0" spc="-25"/>
              <a:t>AI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3514" y="1408903"/>
            <a:ext cx="8177530" cy="602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05"/>
              </a:spcBef>
            </a:pP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MindCare</a:t>
            </a:r>
            <a:r>
              <a:rPr dirty="0" sz="9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AI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is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an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intelligent,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web-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based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mental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wellness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companion</a:t>
            </a:r>
            <a:r>
              <a:rPr dirty="0" sz="950" spc="1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that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bridges</a:t>
            </a:r>
            <a:r>
              <a:rPr dirty="0" sz="9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gap</a:t>
            </a:r>
            <a:r>
              <a:rPr dirty="0" sz="950" spc="1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between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rigid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rule-based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bots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emotionally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intelligent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human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support.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By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combining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real-time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emotion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detection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powerful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generative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language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model,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it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delivers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responses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that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D5D9D6"/>
                </a:solidFill>
                <a:latin typeface="Tahoma"/>
                <a:cs typeface="Tahoma"/>
              </a:rPr>
              <a:t>feel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genuinely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empathetic</a:t>
            </a:r>
            <a:r>
              <a:rPr dirty="0" sz="950" spc="1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contextually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appropriate.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2" y="2180018"/>
            <a:ext cx="1515999" cy="93694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3514" y="3251073"/>
            <a:ext cx="2555875" cy="856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Real-Time</a:t>
            </a:r>
            <a:r>
              <a:rPr dirty="0" sz="1200" spc="7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45">
                <a:solidFill>
                  <a:srgbClr val="D5D9D6"/>
                </a:solidFill>
                <a:latin typeface="Arial MT"/>
                <a:cs typeface="Arial MT"/>
              </a:rPr>
              <a:t>Emotion</a:t>
            </a:r>
            <a:r>
              <a:rPr dirty="0" sz="1200" spc="13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D5D9D6"/>
                </a:solidFill>
                <a:latin typeface="Arial MT"/>
                <a:cs typeface="Arial MT"/>
              </a:rPr>
              <a:t>Detection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Analyzes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user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input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in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real-time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detect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emotional</a:t>
            </a:r>
            <a:r>
              <a:rPr dirty="0" sz="950" spc="20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state,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enabling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system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respond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appropriate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empathy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D5D9D6"/>
                </a:solidFill>
                <a:latin typeface="Tahoma"/>
                <a:cs typeface="Tahoma"/>
              </a:rPr>
              <a:t>care.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5042" y="2180018"/>
            <a:ext cx="1515999" cy="9369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52978" y="3251073"/>
            <a:ext cx="2565400" cy="104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Fine-Tuned</a:t>
            </a:r>
            <a:r>
              <a:rPr dirty="0" sz="1200" spc="204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D5D9D6"/>
                </a:solidFill>
                <a:latin typeface="Arial MT"/>
                <a:cs typeface="Arial MT"/>
              </a:rPr>
              <a:t>DistilBERT</a:t>
            </a:r>
            <a:r>
              <a:rPr dirty="0" sz="1200" spc="18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D5D9D6"/>
                </a:solidFill>
                <a:latin typeface="Arial MT"/>
                <a:cs typeface="Arial MT"/>
              </a:rPr>
              <a:t>Model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3100"/>
              </a:lnSpc>
              <a:spcBef>
                <a:spcPts val="555"/>
              </a:spcBef>
            </a:pP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A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transformer-based emotion classifier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fine-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tuned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over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100,000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labeled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utterances,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delivering</a:t>
            </a:r>
            <a:r>
              <a:rPr dirty="0" sz="95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high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accuracy</a:t>
            </a:r>
            <a:r>
              <a:rPr dirty="0" sz="95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sub-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second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inference.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3896" y="2180018"/>
            <a:ext cx="1515999" cy="93694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22085" y="3251073"/>
            <a:ext cx="2512695" cy="104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Meta</a:t>
            </a:r>
            <a:r>
              <a:rPr dirty="0" sz="1200" spc="5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LLAMA</a:t>
            </a:r>
            <a:r>
              <a:rPr dirty="0" sz="1200" spc="5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-120">
                <a:solidFill>
                  <a:srgbClr val="D5D9D6"/>
                </a:solidFill>
                <a:latin typeface="Arial MT"/>
                <a:cs typeface="Arial MT"/>
              </a:rPr>
              <a:t>3.1</a:t>
            </a:r>
            <a:r>
              <a:rPr dirty="0" sz="1200" spc="3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D5D9D6"/>
                </a:solidFill>
                <a:latin typeface="Arial MT"/>
                <a:cs typeface="Arial MT"/>
              </a:rPr>
              <a:t>70B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3100"/>
              </a:lnSpc>
              <a:spcBef>
                <a:spcPts val="555"/>
              </a:spcBef>
            </a:pP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Integrates</a:t>
            </a:r>
            <a:r>
              <a:rPr dirty="0" sz="950" spc="1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state-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of-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the-art</a:t>
            </a:r>
            <a:r>
              <a:rPr dirty="0" sz="950" spc="20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large</a:t>
            </a:r>
            <a:r>
              <a:rPr dirty="0" sz="9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language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model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via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OpenRouter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API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generate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nuanced,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context-aware,</a:t>
            </a:r>
            <a:r>
              <a:rPr dirty="0" sz="950" spc="1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2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supportive replies.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10779" y="4853350"/>
            <a:ext cx="1094740" cy="262255"/>
          </a:xfrm>
          <a:custGeom>
            <a:avLst/>
            <a:gdLst/>
            <a:ahLst/>
            <a:cxnLst/>
            <a:rect l="l" t="t" r="r" b="b"/>
            <a:pathLst>
              <a:path w="1094740" h="262254">
                <a:moveTo>
                  <a:pt x="1094308" y="0"/>
                </a:moveTo>
                <a:lnTo>
                  <a:pt x="0" y="0"/>
                </a:lnTo>
                <a:lnTo>
                  <a:pt x="0" y="262242"/>
                </a:lnTo>
                <a:lnTo>
                  <a:pt x="1094308" y="262242"/>
                </a:lnTo>
                <a:lnTo>
                  <a:pt x="1094308" y="0"/>
                </a:lnTo>
                <a:close/>
              </a:path>
            </a:pathLst>
          </a:custGeom>
          <a:solidFill>
            <a:srgbClr val="2E30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1492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Under</a:t>
            </a:r>
            <a:r>
              <a:rPr dirty="0" spc="-50"/>
              <a:t> </a:t>
            </a:r>
            <a:r>
              <a:rPr dirty="0" spc="140"/>
              <a:t>the</a:t>
            </a:r>
            <a:r>
              <a:rPr dirty="0" spc="-40"/>
              <a:t> </a:t>
            </a:r>
            <a:r>
              <a:rPr dirty="0"/>
              <a:t>Hood:</a:t>
            </a:r>
            <a:r>
              <a:rPr dirty="0" spc="-30"/>
              <a:t> </a:t>
            </a:r>
            <a:r>
              <a:rPr dirty="0" spc="130"/>
              <a:t>Architecture</a:t>
            </a:r>
            <a:r>
              <a:rPr dirty="0" spc="-60"/>
              <a:t> </a:t>
            </a:r>
            <a:r>
              <a:rPr dirty="0" spc="190"/>
              <a:t>&amp;</a:t>
            </a:r>
            <a:r>
              <a:rPr dirty="0" spc="-40"/>
              <a:t> </a:t>
            </a:r>
            <a:r>
              <a:rPr dirty="0" spc="50"/>
              <a:t>Tech</a:t>
            </a:r>
            <a:r>
              <a:rPr dirty="0" spc="-60"/>
              <a:t> </a:t>
            </a:r>
            <a:r>
              <a:rPr dirty="0" spc="65"/>
              <a:t>Stack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3514" y="1198320"/>
            <a:ext cx="8103870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100"/>
              </a:spcBef>
            </a:pP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MindCare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AI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is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built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secure,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scalable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Model-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View-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Controller</a:t>
            </a:r>
            <a:r>
              <a:rPr dirty="0" sz="950" spc="1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(MVC)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architecture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that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cleanly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separates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concerns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across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presentation, 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business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logic,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data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layers.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This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design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ensures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maintainability,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testability,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clear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path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future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feature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expansion.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819" y="1770252"/>
            <a:ext cx="4103370" cy="2775585"/>
          </a:xfrm>
          <a:custGeom>
            <a:avLst/>
            <a:gdLst/>
            <a:ahLst/>
            <a:cxnLst/>
            <a:rect l="l" t="t" r="r" b="b"/>
            <a:pathLst>
              <a:path w="4103370" h="2775585">
                <a:moveTo>
                  <a:pt x="4084535" y="0"/>
                </a:moveTo>
                <a:lnTo>
                  <a:pt x="18618" y="0"/>
                </a:lnTo>
                <a:lnTo>
                  <a:pt x="11374" y="1450"/>
                </a:lnTo>
                <a:lnTo>
                  <a:pt x="5456" y="5413"/>
                </a:lnTo>
                <a:lnTo>
                  <a:pt x="1464" y="11304"/>
                </a:lnTo>
                <a:lnTo>
                  <a:pt x="0" y="18542"/>
                </a:lnTo>
                <a:lnTo>
                  <a:pt x="0" y="2756344"/>
                </a:lnTo>
                <a:lnTo>
                  <a:pt x="1464" y="2763588"/>
                </a:lnTo>
                <a:lnTo>
                  <a:pt x="5456" y="2769506"/>
                </a:lnTo>
                <a:lnTo>
                  <a:pt x="11374" y="2773498"/>
                </a:lnTo>
                <a:lnTo>
                  <a:pt x="18618" y="2774962"/>
                </a:lnTo>
                <a:lnTo>
                  <a:pt x="4084535" y="2774962"/>
                </a:lnTo>
                <a:lnTo>
                  <a:pt x="4091792" y="2773498"/>
                </a:lnTo>
                <a:lnTo>
                  <a:pt x="4097728" y="2769506"/>
                </a:lnTo>
                <a:lnTo>
                  <a:pt x="4101734" y="2763588"/>
                </a:lnTo>
                <a:lnTo>
                  <a:pt x="4103204" y="2756344"/>
                </a:lnTo>
                <a:lnTo>
                  <a:pt x="4103204" y="18542"/>
                </a:lnTo>
                <a:lnTo>
                  <a:pt x="4101734" y="11304"/>
                </a:lnTo>
                <a:lnTo>
                  <a:pt x="4097728" y="5413"/>
                </a:lnTo>
                <a:lnTo>
                  <a:pt x="4091792" y="1450"/>
                </a:lnTo>
                <a:lnTo>
                  <a:pt x="4084535" y="0"/>
                </a:lnTo>
                <a:close/>
              </a:path>
            </a:pathLst>
          </a:custGeom>
          <a:solidFill>
            <a:srgbClr val="AC9E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18261" y="1873123"/>
            <a:ext cx="2313305" cy="2465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Backend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95">
                <a:latin typeface="Arial MT"/>
                <a:cs typeface="Arial MT"/>
              </a:rPr>
              <a:t>&amp; </a:t>
            </a:r>
            <a:r>
              <a:rPr dirty="0" sz="1200" spc="-10">
                <a:latin typeface="Arial MT"/>
                <a:cs typeface="Arial MT"/>
              </a:rPr>
              <a:t>Database</a:t>
            </a:r>
            <a:endParaRPr sz="1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5"/>
              </a:spcBef>
              <a:buChar char="•"/>
              <a:tabLst>
                <a:tab pos="354965" algn="l"/>
              </a:tabLst>
            </a:pPr>
            <a:r>
              <a:rPr dirty="0" sz="950">
                <a:latin typeface="Tahoma"/>
                <a:cs typeface="Tahoma"/>
              </a:rPr>
              <a:t>Python</a:t>
            </a:r>
            <a:r>
              <a:rPr dirty="0" sz="950" spc="220">
                <a:latin typeface="Tahoma"/>
                <a:cs typeface="Tahoma"/>
              </a:rPr>
              <a:t> </a:t>
            </a:r>
            <a:r>
              <a:rPr dirty="0" sz="950" spc="-20">
                <a:latin typeface="Tahoma"/>
                <a:cs typeface="Tahoma"/>
              </a:rPr>
              <a:t>3.13</a:t>
            </a:r>
            <a:endParaRPr sz="9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70"/>
              </a:spcBef>
              <a:buChar char="•"/>
              <a:tabLst>
                <a:tab pos="354965" algn="l"/>
              </a:tabLst>
            </a:pPr>
            <a:r>
              <a:rPr dirty="0" sz="950">
                <a:latin typeface="Tahoma"/>
                <a:cs typeface="Tahoma"/>
              </a:rPr>
              <a:t>Flask</a:t>
            </a:r>
            <a:r>
              <a:rPr dirty="0" sz="950" spc="75">
                <a:latin typeface="Tahoma"/>
                <a:cs typeface="Tahoma"/>
              </a:rPr>
              <a:t> </a:t>
            </a:r>
            <a:r>
              <a:rPr dirty="0" sz="950" spc="50">
                <a:latin typeface="Tahoma"/>
                <a:cs typeface="Tahoma"/>
              </a:rPr>
              <a:t>web</a:t>
            </a:r>
            <a:r>
              <a:rPr dirty="0" sz="950" spc="65">
                <a:latin typeface="Tahoma"/>
                <a:cs typeface="Tahoma"/>
              </a:rPr>
              <a:t> </a:t>
            </a:r>
            <a:r>
              <a:rPr dirty="0" sz="950" spc="-10">
                <a:latin typeface="Tahoma"/>
                <a:cs typeface="Tahoma"/>
              </a:rPr>
              <a:t>framework</a:t>
            </a:r>
            <a:endParaRPr sz="9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70"/>
              </a:spcBef>
              <a:buChar char="•"/>
              <a:tabLst>
                <a:tab pos="354965" algn="l"/>
              </a:tabLst>
            </a:pPr>
            <a:r>
              <a:rPr dirty="0" sz="950" spc="50">
                <a:latin typeface="Tahoma"/>
                <a:cs typeface="Tahoma"/>
              </a:rPr>
              <a:t>SQLAlchemy</a:t>
            </a:r>
            <a:r>
              <a:rPr dirty="0" sz="950" spc="-40">
                <a:latin typeface="Tahoma"/>
                <a:cs typeface="Tahoma"/>
              </a:rPr>
              <a:t> </a:t>
            </a:r>
            <a:r>
              <a:rPr dirty="0" sz="950" spc="25">
                <a:latin typeface="Tahoma"/>
                <a:cs typeface="Tahoma"/>
              </a:rPr>
              <a:t>ORM</a:t>
            </a:r>
            <a:endParaRPr sz="9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</a:tabLst>
            </a:pPr>
            <a:r>
              <a:rPr dirty="0" sz="950">
                <a:latin typeface="Tahoma"/>
                <a:cs typeface="Tahoma"/>
              </a:rPr>
              <a:t>SQLite</a:t>
            </a:r>
            <a:r>
              <a:rPr dirty="0" sz="950" spc="175">
                <a:latin typeface="Tahoma"/>
                <a:cs typeface="Tahoma"/>
              </a:rPr>
              <a:t> </a:t>
            </a:r>
            <a:r>
              <a:rPr dirty="0" sz="950" spc="-10">
                <a:latin typeface="Tahoma"/>
                <a:cs typeface="Tahoma"/>
              </a:rPr>
              <a:t>database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Char char="•"/>
            </a:pP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ahoma"/>
              <a:buChar char="•"/>
            </a:pP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AI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95">
                <a:latin typeface="Arial MT"/>
                <a:cs typeface="Arial MT"/>
              </a:rPr>
              <a:t>&amp;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45">
                <a:latin typeface="Arial MT"/>
                <a:cs typeface="Arial MT"/>
              </a:rPr>
              <a:t>NLP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Stack</a:t>
            </a:r>
            <a:endParaRPr sz="1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5"/>
              </a:spcBef>
              <a:buChar char="•"/>
              <a:tabLst>
                <a:tab pos="354965" algn="l"/>
              </a:tabLst>
            </a:pPr>
            <a:r>
              <a:rPr dirty="0" sz="950" spc="50">
                <a:latin typeface="Tahoma"/>
                <a:cs typeface="Tahoma"/>
              </a:rPr>
              <a:t>PyTorch</a:t>
            </a:r>
            <a:r>
              <a:rPr dirty="0" sz="950" spc="155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deep</a:t>
            </a:r>
            <a:r>
              <a:rPr dirty="0" sz="950" spc="114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learning</a:t>
            </a:r>
            <a:r>
              <a:rPr dirty="0" sz="950" spc="114">
                <a:latin typeface="Tahoma"/>
                <a:cs typeface="Tahoma"/>
              </a:rPr>
              <a:t> </a:t>
            </a:r>
            <a:r>
              <a:rPr dirty="0" sz="950" spc="-10">
                <a:latin typeface="Tahoma"/>
                <a:cs typeface="Tahoma"/>
              </a:rPr>
              <a:t>framework</a:t>
            </a:r>
            <a:endParaRPr sz="9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75"/>
              </a:spcBef>
              <a:buChar char="•"/>
              <a:tabLst>
                <a:tab pos="354965" algn="l"/>
              </a:tabLst>
            </a:pPr>
            <a:r>
              <a:rPr dirty="0" sz="950" spc="30">
                <a:latin typeface="Tahoma"/>
                <a:cs typeface="Tahoma"/>
              </a:rPr>
              <a:t>HuggingFace</a:t>
            </a:r>
            <a:r>
              <a:rPr dirty="0" sz="950" spc="170">
                <a:latin typeface="Tahoma"/>
                <a:cs typeface="Tahoma"/>
              </a:rPr>
              <a:t> </a:t>
            </a:r>
            <a:r>
              <a:rPr dirty="0" sz="950" spc="-10">
                <a:latin typeface="Tahoma"/>
                <a:cs typeface="Tahoma"/>
              </a:rPr>
              <a:t>Transformers</a:t>
            </a:r>
            <a:endParaRPr sz="9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70"/>
              </a:spcBef>
              <a:buChar char="•"/>
              <a:tabLst>
                <a:tab pos="354965" algn="l"/>
              </a:tabLst>
            </a:pPr>
            <a:r>
              <a:rPr dirty="0" sz="950" spc="10">
                <a:latin typeface="Tahoma"/>
                <a:cs typeface="Tahoma"/>
              </a:rPr>
              <a:t>DistilBERT</a:t>
            </a:r>
            <a:r>
              <a:rPr dirty="0" sz="950" spc="130">
                <a:latin typeface="Tahoma"/>
                <a:cs typeface="Tahoma"/>
              </a:rPr>
              <a:t> </a:t>
            </a:r>
            <a:r>
              <a:rPr dirty="0" sz="950" spc="10">
                <a:latin typeface="Tahoma"/>
                <a:cs typeface="Tahoma"/>
              </a:rPr>
              <a:t>base</a:t>
            </a:r>
            <a:r>
              <a:rPr dirty="0" sz="950" spc="140">
                <a:latin typeface="Tahoma"/>
                <a:cs typeface="Tahoma"/>
              </a:rPr>
              <a:t> </a:t>
            </a:r>
            <a:r>
              <a:rPr dirty="0" sz="950" spc="-10">
                <a:latin typeface="Tahoma"/>
                <a:cs typeface="Tahoma"/>
              </a:rPr>
              <a:t>uncased</a:t>
            </a:r>
            <a:endParaRPr sz="9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</a:tabLst>
            </a:pPr>
            <a:r>
              <a:rPr dirty="0" sz="950">
                <a:latin typeface="Tahoma"/>
                <a:cs typeface="Tahoma"/>
              </a:rPr>
              <a:t>OpenRouter</a:t>
            </a:r>
            <a:r>
              <a:rPr dirty="0" sz="950" spc="9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API</a:t>
            </a:r>
            <a:r>
              <a:rPr dirty="0" sz="950" spc="60">
                <a:latin typeface="Tahoma"/>
                <a:cs typeface="Tahoma"/>
              </a:rPr>
              <a:t> </a:t>
            </a:r>
            <a:r>
              <a:rPr dirty="0" sz="950" spc="55">
                <a:latin typeface="Tahoma"/>
                <a:cs typeface="Tahoma"/>
              </a:rPr>
              <a:t>(LLAMA</a:t>
            </a:r>
            <a:r>
              <a:rPr dirty="0" sz="950" spc="50">
                <a:latin typeface="Tahoma"/>
                <a:cs typeface="Tahoma"/>
              </a:rPr>
              <a:t> </a:t>
            </a:r>
            <a:r>
              <a:rPr dirty="0" sz="950" spc="-20">
                <a:latin typeface="Tahoma"/>
                <a:cs typeface="Tahoma"/>
              </a:rPr>
              <a:t>3.1</a:t>
            </a:r>
            <a:r>
              <a:rPr dirty="0" sz="950" spc="60">
                <a:latin typeface="Tahoma"/>
                <a:cs typeface="Tahoma"/>
              </a:rPr>
              <a:t> </a:t>
            </a:r>
            <a:r>
              <a:rPr dirty="0" sz="950" spc="-20">
                <a:latin typeface="Tahoma"/>
                <a:cs typeface="Tahoma"/>
              </a:rPr>
              <a:t>70B)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8083" y="1909711"/>
            <a:ext cx="3924553" cy="21904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10779" y="4853350"/>
            <a:ext cx="1094740" cy="262255"/>
          </a:xfrm>
          <a:custGeom>
            <a:avLst/>
            <a:gdLst/>
            <a:ahLst/>
            <a:cxnLst/>
            <a:rect l="l" t="t" r="r" b="b"/>
            <a:pathLst>
              <a:path w="1094740" h="262254">
                <a:moveTo>
                  <a:pt x="1094308" y="0"/>
                </a:moveTo>
                <a:lnTo>
                  <a:pt x="0" y="0"/>
                </a:lnTo>
                <a:lnTo>
                  <a:pt x="0" y="262242"/>
                </a:lnTo>
                <a:lnTo>
                  <a:pt x="1094308" y="262242"/>
                </a:lnTo>
                <a:lnTo>
                  <a:pt x="1094308" y="0"/>
                </a:lnTo>
                <a:close/>
              </a:path>
            </a:pathLst>
          </a:custGeom>
          <a:solidFill>
            <a:srgbClr val="2E30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0942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Understanding</a:t>
            </a:r>
            <a:r>
              <a:rPr dirty="0"/>
              <a:t> How</a:t>
            </a:r>
            <a:r>
              <a:rPr dirty="0" spc="-30"/>
              <a:t> </a:t>
            </a:r>
            <a:r>
              <a:rPr dirty="0"/>
              <a:t>Users</a:t>
            </a:r>
            <a:r>
              <a:rPr dirty="0" spc="-20"/>
              <a:t> Feel</a:t>
            </a:r>
          </a:p>
        </p:txBody>
      </p:sp>
      <p:sp>
        <p:nvSpPr>
          <p:cNvPr id="4" name="object 4"/>
          <p:cNvSpPr/>
          <p:nvPr/>
        </p:nvSpPr>
        <p:spPr>
          <a:xfrm>
            <a:off x="496112" y="1143508"/>
            <a:ext cx="1663700" cy="233679"/>
          </a:xfrm>
          <a:custGeom>
            <a:avLst/>
            <a:gdLst/>
            <a:ahLst/>
            <a:cxnLst/>
            <a:rect l="l" t="t" r="r" b="b"/>
            <a:pathLst>
              <a:path w="1663700" h="233680">
                <a:moveTo>
                  <a:pt x="1656537" y="0"/>
                </a:moveTo>
                <a:lnTo>
                  <a:pt x="6667" y="0"/>
                </a:lnTo>
                <a:lnTo>
                  <a:pt x="0" y="6603"/>
                </a:lnTo>
                <a:lnTo>
                  <a:pt x="0" y="14858"/>
                </a:lnTo>
                <a:lnTo>
                  <a:pt x="0" y="226440"/>
                </a:lnTo>
                <a:lnTo>
                  <a:pt x="6667" y="233171"/>
                </a:lnTo>
                <a:lnTo>
                  <a:pt x="1656537" y="233171"/>
                </a:lnTo>
                <a:lnTo>
                  <a:pt x="1663141" y="226440"/>
                </a:lnTo>
                <a:lnTo>
                  <a:pt x="1663141" y="6603"/>
                </a:lnTo>
                <a:lnTo>
                  <a:pt x="1656537" y="0"/>
                </a:lnTo>
                <a:close/>
              </a:path>
            </a:pathLst>
          </a:custGeom>
          <a:solidFill>
            <a:srgbClr val="1107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3514" y="1186688"/>
            <a:ext cx="7848600" cy="895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05"/>
              </a:spcBef>
            </a:pPr>
            <a:r>
              <a:rPr dirty="0" sz="750" spc="20">
                <a:solidFill>
                  <a:srgbClr val="D5D9D6"/>
                </a:solidFill>
                <a:latin typeface="Tahoma"/>
                <a:cs typeface="Tahoma"/>
              </a:rPr>
              <a:t>EMOTION</a:t>
            </a:r>
            <a:r>
              <a:rPr dirty="0" sz="7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D5D9D6"/>
                </a:solidFill>
                <a:latin typeface="Tahoma"/>
                <a:cs typeface="Tahoma"/>
              </a:rPr>
              <a:t>DETECTION</a:t>
            </a:r>
            <a:r>
              <a:rPr dirty="0" sz="7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45">
                <a:solidFill>
                  <a:srgbClr val="D5D9D6"/>
                </a:solidFill>
                <a:latin typeface="Tahoma"/>
                <a:cs typeface="Tahoma"/>
              </a:rPr>
              <a:t>MODULE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750">
              <a:latin typeface="Tahoma"/>
              <a:cs typeface="Tahoma"/>
            </a:endParaRPr>
          </a:p>
          <a:p>
            <a:pPr algn="just" marL="12700" marR="5080">
              <a:lnSpc>
                <a:spcPct val="132600"/>
              </a:lnSpc>
            </a:pP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emotion</a:t>
            </a:r>
            <a:r>
              <a:rPr dirty="0" sz="9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detection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module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is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cognitive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core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of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MindCare</a:t>
            </a:r>
            <a:r>
              <a:rPr dirty="0" sz="9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AI.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75">
                <a:solidFill>
                  <a:srgbClr val="D5D9D6"/>
                </a:solidFill>
                <a:latin typeface="Tahoma"/>
                <a:cs typeface="Tahoma"/>
              </a:rPr>
              <a:t>It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classifies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every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user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message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into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one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of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six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emotional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categories,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enabling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system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tailor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its</a:t>
            </a:r>
            <a:r>
              <a:rPr dirty="0" sz="95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tone,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empathy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level,</a:t>
            </a:r>
            <a:r>
              <a:rPr dirty="0" sz="95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response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strategy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accordingly.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High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accuracy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low</a:t>
            </a:r>
            <a:r>
              <a:rPr dirty="0" sz="95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latency were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both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critical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design</a:t>
            </a:r>
            <a:r>
              <a:rPr dirty="0" sz="950" spc="2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requirements.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6112" y="2390648"/>
            <a:ext cx="2112010" cy="441959"/>
            <a:chOff x="496112" y="2390648"/>
            <a:chExt cx="2112010" cy="441959"/>
          </a:xfrm>
        </p:grpSpPr>
        <p:sp>
          <p:nvSpPr>
            <p:cNvPr id="7" name="object 7"/>
            <p:cNvSpPr/>
            <p:nvPr/>
          </p:nvSpPr>
          <p:spPr>
            <a:xfrm>
              <a:off x="496112" y="2390648"/>
              <a:ext cx="2112010" cy="441959"/>
            </a:xfrm>
            <a:custGeom>
              <a:avLst/>
              <a:gdLst/>
              <a:ahLst/>
              <a:cxnLst/>
              <a:rect l="l" t="t" r="r" b="b"/>
              <a:pathLst>
                <a:path w="2112010" h="441960">
                  <a:moveTo>
                    <a:pt x="2093036" y="0"/>
                  </a:moveTo>
                  <a:lnTo>
                    <a:pt x="18618" y="0"/>
                  </a:lnTo>
                  <a:lnTo>
                    <a:pt x="11369" y="1450"/>
                  </a:lnTo>
                  <a:lnTo>
                    <a:pt x="5451" y="5413"/>
                  </a:lnTo>
                  <a:lnTo>
                    <a:pt x="1462" y="11304"/>
                  </a:lnTo>
                  <a:lnTo>
                    <a:pt x="0" y="18541"/>
                  </a:lnTo>
                  <a:lnTo>
                    <a:pt x="0" y="423163"/>
                  </a:lnTo>
                  <a:lnTo>
                    <a:pt x="1462" y="430420"/>
                  </a:lnTo>
                  <a:lnTo>
                    <a:pt x="5451" y="436356"/>
                  </a:lnTo>
                  <a:lnTo>
                    <a:pt x="11369" y="440362"/>
                  </a:lnTo>
                  <a:lnTo>
                    <a:pt x="18618" y="441832"/>
                  </a:lnTo>
                  <a:lnTo>
                    <a:pt x="2093036" y="441832"/>
                  </a:lnTo>
                  <a:lnTo>
                    <a:pt x="2100293" y="440362"/>
                  </a:lnTo>
                  <a:lnTo>
                    <a:pt x="2106228" y="436356"/>
                  </a:lnTo>
                  <a:lnTo>
                    <a:pt x="2110234" y="430420"/>
                  </a:lnTo>
                  <a:lnTo>
                    <a:pt x="2111705" y="423163"/>
                  </a:lnTo>
                  <a:lnTo>
                    <a:pt x="2111705" y="18541"/>
                  </a:lnTo>
                  <a:lnTo>
                    <a:pt x="2110234" y="11304"/>
                  </a:lnTo>
                  <a:lnTo>
                    <a:pt x="2106228" y="5413"/>
                  </a:lnTo>
                  <a:lnTo>
                    <a:pt x="2100293" y="1450"/>
                  </a:lnTo>
                  <a:lnTo>
                    <a:pt x="2093036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303" y="2464308"/>
              <a:ext cx="392430" cy="31927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54455" y="2493645"/>
            <a:ext cx="2838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25">
                <a:solidFill>
                  <a:srgbClr val="D5D9D6"/>
                </a:solidFill>
                <a:latin typeface="Arial MT"/>
                <a:cs typeface="Arial MT"/>
              </a:rPr>
              <a:t>Joy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31770" y="2390648"/>
            <a:ext cx="2112010" cy="441959"/>
            <a:chOff x="2731770" y="2390648"/>
            <a:chExt cx="2112010" cy="441959"/>
          </a:xfrm>
        </p:grpSpPr>
        <p:sp>
          <p:nvSpPr>
            <p:cNvPr id="11" name="object 11"/>
            <p:cNvSpPr/>
            <p:nvPr/>
          </p:nvSpPr>
          <p:spPr>
            <a:xfrm>
              <a:off x="2731770" y="2390648"/>
              <a:ext cx="2112010" cy="441959"/>
            </a:xfrm>
            <a:custGeom>
              <a:avLst/>
              <a:gdLst/>
              <a:ahLst/>
              <a:cxnLst/>
              <a:rect l="l" t="t" r="r" b="b"/>
              <a:pathLst>
                <a:path w="2112010" h="441960">
                  <a:moveTo>
                    <a:pt x="2092959" y="0"/>
                  </a:moveTo>
                  <a:lnTo>
                    <a:pt x="18542" y="0"/>
                  </a:lnTo>
                  <a:lnTo>
                    <a:pt x="11304" y="1450"/>
                  </a:lnTo>
                  <a:lnTo>
                    <a:pt x="5413" y="5413"/>
                  </a:lnTo>
                  <a:lnTo>
                    <a:pt x="1450" y="11304"/>
                  </a:lnTo>
                  <a:lnTo>
                    <a:pt x="0" y="18541"/>
                  </a:lnTo>
                  <a:lnTo>
                    <a:pt x="0" y="423163"/>
                  </a:lnTo>
                  <a:lnTo>
                    <a:pt x="1450" y="430420"/>
                  </a:lnTo>
                  <a:lnTo>
                    <a:pt x="5413" y="436356"/>
                  </a:lnTo>
                  <a:lnTo>
                    <a:pt x="11304" y="440362"/>
                  </a:lnTo>
                  <a:lnTo>
                    <a:pt x="18542" y="441832"/>
                  </a:lnTo>
                  <a:lnTo>
                    <a:pt x="2092959" y="441832"/>
                  </a:lnTo>
                  <a:lnTo>
                    <a:pt x="2100216" y="440362"/>
                  </a:lnTo>
                  <a:lnTo>
                    <a:pt x="2106152" y="436356"/>
                  </a:lnTo>
                  <a:lnTo>
                    <a:pt x="2110158" y="430420"/>
                  </a:lnTo>
                  <a:lnTo>
                    <a:pt x="2111629" y="423163"/>
                  </a:lnTo>
                  <a:lnTo>
                    <a:pt x="2111629" y="18541"/>
                  </a:lnTo>
                  <a:lnTo>
                    <a:pt x="2110158" y="11304"/>
                  </a:lnTo>
                  <a:lnTo>
                    <a:pt x="2106152" y="5413"/>
                  </a:lnTo>
                  <a:lnTo>
                    <a:pt x="2100216" y="1450"/>
                  </a:lnTo>
                  <a:lnTo>
                    <a:pt x="2092959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3012" y="2464308"/>
              <a:ext cx="392430" cy="31927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90417" y="2493645"/>
            <a:ext cx="361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D5D9D6"/>
                </a:solidFill>
                <a:latin typeface="Arial MT"/>
                <a:cs typeface="Arial MT"/>
              </a:rPr>
              <a:t>Love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6112" y="2956432"/>
            <a:ext cx="2112010" cy="441959"/>
            <a:chOff x="496112" y="2956432"/>
            <a:chExt cx="2112010" cy="441959"/>
          </a:xfrm>
        </p:grpSpPr>
        <p:sp>
          <p:nvSpPr>
            <p:cNvPr id="15" name="object 15"/>
            <p:cNvSpPr/>
            <p:nvPr/>
          </p:nvSpPr>
          <p:spPr>
            <a:xfrm>
              <a:off x="496112" y="2956432"/>
              <a:ext cx="2112010" cy="441959"/>
            </a:xfrm>
            <a:custGeom>
              <a:avLst/>
              <a:gdLst/>
              <a:ahLst/>
              <a:cxnLst/>
              <a:rect l="l" t="t" r="r" b="b"/>
              <a:pathLst>
                <a:path w="2112010" h="441960">
                  <a:moveTo>
                    <a:pt x="2093036" y="0"/>
                  </a:moveTo>
                  <a:lnTo>
                    <a:pt x="18618" y="0"/>
                  </a:lnTo>
                  <a:lnTo>
                    <a:pt x="11369" y="1450"/>
                  </a:lnTo>
                  <a:lnTo>
                    <a:pt x="5451" y="5413"/>
                  </a:lnTo>
                  <a:lnTo>
                    <a:pt x="1462" y="11304"/>
                  </a:lnTo>
                  <a:lnTo>
                    <a:pt x="0" y="18542"/>
                  </a:lnTo>
                  <a:lnTo>
                    <a:pt x="0" y="423164"/>
                  </a:lnTo>
                  <a:lnTo>
                    <a:pt x="1462" y="430401"/>
                  </a:lnTo>
                  <a:lnTo>
                    <a:pt x="5451" y="436292"/>
                  </a:lnTo>
                  <a:lnTo>
                    <a:pt x="11369" y="440255"/>
                  </a:lnTo>
                  <a:lnTo>
                    <a:pt x="18618" y="441706"/>
                  </a:lnTo>
                  <a:lnTo>
                    <a:pt x="2093036" y="441706"/>
                  </a:lnTo>
                  <a:lnTo>
                    <a:pt x="2100293" y="440255"/>
                  </a:lnTo>
                  <a:lnTo>
                    <a:pt x="2106228" y="436292"/>
                  </a:lnTo>
                  <a:lnTo>
                    <a:pt x="2110234" y="430401"/>
                  </a:lnTo>
                  <a:lnTo>
                    <a:pt x="2111705" y="423164"/>
                  </a:lnTo>
                  <a:lnTo>
                    <a:pt x="2111705" y="18542"/>
                  </a:lnTo>
                  <a:lnTo>
                    <a:pt x="2110234" y="11304"/>
                  </a:lnTo>
                  <a:lnTo>
                    <a:pt x="2106228" y="5413"/>
                  </a:lnTo>
                  <a:lnTo>
                    <a:pt x="2100293" y="1450"/>
                  </a:lnTo>
                  <a:lnTo>
                    <a:pt x="2093036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303" y="3029711"/>
              <a:ext cx="392430" cy="3208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54455" y="3059429"/>
            <a:ext cx="632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D5D9D6"/>
                </a:solidFill>
                <a:latin typeface="Arial MT"/>
                <a:cs typeface="Arial MT"/>
              </a:rPr>
              <a:t>Sadness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31770" y="2956432"/>
            <a:ext cx="2112010" cy="441959"/>
            <a:chOff x="2731770" y="2956432"/>
            <a:chExt cx="2112010" cy="441959"/>
          </a:xfrm>
        </p:grpSpPr>
        <p:sp>
          <p:nvSpPr>
            <p:cNvPr id="19" name="object 19"/>
            <p:cNvSpPr/>
            <p:nvPr/>
          </p:nvSpPr>
          <p:spPr>
            <a:xfrm>
              <a:off x="2731770" y="2956432"/>
              <a:ext cx="2112010" cy="441959"/>
            </a:xfrm>
            <a:custGeom>
              <a:avLst/>
              <a:gdLst/>
              <a:ahLst/>
              <a:cxnLst/>
              <a:rect l="l" t="t" r="r" b="b"/>
              <a:pathLst>
                <a:path w="2112010" h="441960">
                  <a:moveTo>
                    <a:pt x="2092959" y="0"/>
                  </a:moveTo>
                  <a:lnTo>
                    <a:pt x="18542" y="0"/>
                  </a:lnTo>
                  <a:lnTo>
                    <a:pt x="11304" y="1450"/>
                  </a:lnTo>
                  <a:lnTo>
                    <a:pt x="5413" y="5413"/>
                  </a:lnTo>
                  <a:lnTo>
                    <a:pt x="1450" y="11304"/>
                  </a:lnTo>
                  <a:lnTo>
                    <a:pt x="0" y="18542"/>
                  </a:lnTo>
                  <a:lnTo>
                    <a:pt x="0" y="423164"/>
                  </a:lnTo>
                  <a:lnTo>
                    <a:pt x="1450" y="430401"/>
                  </a:lnTo>
                  <a:lnTo>
                    <a:pt x="5413" y="436292"/>
                  </a:lnTo>
                  <a:lnTo>
                    <a:pt x="11304" y="440255"/>
                  </a:lnTo>
                  <a:lnTo>
                    <a:pt x="18542" y="441706"/>
                  </a:lnTo>
                  <a:lnTo>
                    <a:pt x="2092959" y="441706"/>
                  </a:lnTo>
                  <a:lnTo>
                    <a:pt x="2100216" y="440255"/>
                  </a:lnTo>
                  <a:lnTo>
                    <a:pt x="2106152" y="436292"/>
                  </a:lnTo>
                  <a:lnTo>
                    <a:pt x="2110158" y="430401"/>
                  </a:lnTo>
                  <a:lnTo>
                    <a:pt x="2111629" y="423164"/>
                  </a:lnTo>
                  <a:lnTo>
                    <a:pt x="2111629" y="18542"/>
                  </a:lnTo>
                  <a:lnTo>
                    <a:pt x="2110158" y="11304"/>
                  </a:lnTo>
                  <a:lnTo>
                    <a:pt x="2106152" y="5413"/>
                  </a:lnTo>
                  <a:lnTo>
                    <a:pt x="2100216" y="1450"/>
                  </a:lnTo>
                  <a:lnTo>
                    <a:pt x="2092959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63012" y="3029711"/>
              <a:ext cx="392430" cy="32080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090417" y="3059429"/>
            <a:ext cx="450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D5D9D6"/>
                </a:solidFill>
                <a:latin typeface="Arial MT"/>
                <a:cs typeface="Arial MT"/>
              </a:rPr>
              <a:t>Anger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6112" y="3522217"/>
            <a:ext cx="2112010" cy="441959"/>
            <a:chOff x="496112" y="3522217"/>
            <a:chExt cx="2112010" cy="441959"/>
          </a:xfrm>
        </p:grpSpPr>
        <p:sp>
          <p:nvSpPr>
            <p:cNvPr id="23" name="object 23"/>
            <p:cNvSpPr/>
            <p:nvPr/>
          </p:nvSpPr>
          <p:spPr>
            <a:xfrm>
              <a:off x="496112" y="3522217"/>
              <a:ext cx="2112010" cy="441959"/>
            </a:xfrm>
            <a:custGeom>
              <a:avLst/>
              <a:gdLst/>
              <a:ahLst/>
              <a:cxnLst/>
              <a:rect l="l" t="t" r="r" b="b"/>
              <a:pathLst>
                <a:path w="2112010" h="441960">
                  <a:moveTo>
                    <a:pt x="2093036" y="0"/>
                  </a:moveTo>
                  <a:lnTo>
                    <a:pt x="18618" y="0"/>
                  </a:lnTo>
                  <a:lnTo>
                    <a:pt x="11369" y="1450"/>
                  </a:lnTo>
                  <a:lnTo>
                    <a:pt x="5451" y="5413"/>
                  </a:lnTo>
                  <a:lnTo>
                    <a:pt x="1462" y="11304"/>
                  </a:lnTo>
                  <a:lnTo>
                    <a:pt x="0" y="18541"/>
                  </a:lnTo>
                  <a:lnTo>
                    <a:pt x="0" y="423138"/>
                  </a:lnTo>
                  <a:lnTo>
                    <a:pt x="1462" y="430380"/>
                  </a:lnTo>
                  <a:lnTo>
                    <a:pt x="5451" y="436294"/>
                  </a:lnTo>
                  <a:lnTo>
                    <a:pt x="11369" y="440281"/>
                  </a:lnTo>
                  <a:lnTo>
                    <a:pt x="18618" y="441744"/>
                  </a:lnTo>
                  <a:lnTo>
                    <a:pt x="2093036" y="441744"/>
                  </a:lnTo>
                  <a:lnTo>
                    <a:pt x="2100293" y="440281"/>
                  </a:lnTo>
                  <a:lnTo>
                    <a:pt x="2106228" y="436294"/>
                  </a:lnTo>
                  <a:lnTo>
                    <a:pt x="2110234" y="430380"/>
                  </a:lnTo>
                  <a:lnTo>
                    <a:pt x="2111705" y="423138"/>
                  </a:lnTo>
                  <a:lnTo>
                    <a:pt x="2111705" y="18541"/>
                  </a:lnTo>
                  <a:lnTo>
                    <a:pt x="2110234" y="11304"/>
                  </a:lnTo>
                  <a:lnTo>
                    <a:pt x="2106228" y="5413"/>
                  </a:lnTo>
                  <a:lnTo>
                    <a:pt x="2100293" y="1450"/>
                  </a:lnTo>
                  <a:lnTo>
                    <a:pt x="2093036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7303" y="3595115"/>
              <a:ext cx="392430" cy="32080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54455" y="3625341"/>
            <a:ext cx="339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D5D9D6"/>
                </a:solidFill>
                <a:latin typeface="Arial MT"/>
                <a:cs typeface="Arial MT"/>
              </a:rPr>
              <a:t>Fear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731770" y="3522217"/>
            <a:ext cx="2112010" cy="441959"/>
            <a:chOff x="2731770" y="3522217"/>
            <a:chExt cx="2112010" cy="441959"/>
          </a:xfrm>
        </p:grpSpPr>
        <p:sp>
          <p:nvSpPr>
            <p:cNvPr id="27" name="object 27"/>
            <p:cNvSpPr/>
            <p:nvPr/>
          </p:nvSpPr>
          <p:spPr>
            <a:xfrm>
              <a:off x="2731770" y="3522217"/>
              <a:ext cx="2112010" cy="441959"/>
            </a:xfrm>
            <a:custGeom>
              <a:avLst/>
              <a:gdLst/>
              <a:ahLst/>
              <a:cxnLst/>
              <a:rect l="l" t="t" r="r" b="b"/>
              <a:pathLst>
                <a:path w="2112010" h="441960">
                  <a:moveTo>
                    <a:pt x="2092959" y="0"/>
                  </a:moveTo>
                  <a:lnTo>
                    <a:pt x="18542" y="0"/>
                  </a:lnTo>
                  <a:lnTo>
                    <a:pt x="11304" y="1450"/>
                  </a:lnTo>
                  <a:lnTo>
                    <a:pt x="5413" y="5413"/>
                  </a:lnTo>
                  <a:lnTo>
                    <a:pt x="1450" y="11304"/>
                  </a:lnTo>
                  <a:lnTo>
                    <a:pt x="0" y="18541"/>
                  </a:lnTo>
                  <a:lnTo>
                    <a:pt x="0" y="423138"/>
                  </a:lnTo>
                  <a:lnTo>
                    <a:pt x="1450" y="430380"/>
                  </a:lnTo>
                  <a:lnTo>
                    <a:pt x="5413" y="436294"/>
                  </a:lnTo>
                  <a:lnTo>
                    <a:pt x="11304" y="440281"/>
                  </a:lnTo>
                  <a:lnTo>
                    <a:pt x="18542" y="441744"/>
                  </a:lnTo>
                  <a:lnTo>
                    <a:pt x="2092959" y="441744"/>
                  </a:lnTo>
                  <a:lnTo>
                    <a:pt x="2100216" y="440281"/>
                  </a:lnTo>
                  <a:lnTo>
                    <a:pt x="2106152" y="436294"/>
                  </a:lnTo>
                  <a:lnTo>
                    <a:pt x="2110158" y="430380"/>
                  </a:lnTo>
                  <a:lnTo>
                    <a:pt x="2111629" y="423138"/>
                  </a:lnTo>
                  <a:lnTo>
                    <a:pt x="2111629" y="18541"/>
                  </a:lnTo>
                  <a:lnTo>
                    <a:pt x="2110158" y="11304"/>
                  </a:lnTo>
                  <a:lnTo>
                    <a:pt x="2106152" y="5413"/>
                  </a:lnTo>
                  <a:lnTo>
                    <a:pt x="2100216" y="1450"/>
                  </a:lnTo>
                  <a:lnTo>
                    <a:pt x="2092959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3012" y="3595115"/>
              <a:ext cx="392430" cy="32080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090417" y="3625341"/>
            <a:ext cx="552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D5D9D6"/>
                </a:solidFill>
                <a:latin typeface="Arial MT"/>
                <a:cs typeface="Arial MT"/>
              </a:rPr>
              <a:t>Neutral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38673" y="2354072"/>
            <a:ext cx="3468370" cy="1099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7F7F8"/>
                </a:solidFill>
                <a:latin typeface="Arial MT"/>
                <a:cs typeface="Arial MT"/>
              </a:rPr>
              <a:t>Training</a:t>
            </a:r>
            <a:r>
              <a:rPr dirty="0" sz="1200" spc="135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F7F7F8"/>
                </a:solidFill>
                <a:latin typeface="Arial MT"/>
                <a:cs typeface="Arial MT"/>
              </a:rPr>
              <a:t>Data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944"/>
              </a:spcBef>
            </a:pP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model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was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trained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merged,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balanced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dataset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D5D9D6"/>
                </a:solidFill>
                <a:latin typeface="Tahoma"/>
                <a:cs typeface="Tahoma"/>
              </a:rPr>
              <a:t>of </a:t>
            </a:r>
            <a:r>
              <a:rPr dirty="0" sz="950" spc="-20" b="1">
                <a:solidFill>
                  <a:srgbClr val="D5D9D6"/>
                </a:solidFill>
                <a:latin typeface="Tahoma"/>
                <a:cs typeface="Tahoma"/>
              </a:rPr>
              <a:t>over</a:t>
            </a:r>
            <a:r>
              <a:rPr dirty="0" sz="950" spc="7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40" b="1">
                <a:solidFill>
                  <a:srgbClr val="D5D9D6"/>
                </a:solidFill>
                <a:latin typeface="Tahoma"/>
                <a:cs typeface="Tahoma"/>
              </a:rPr>
              <a:t>100,000</a:t>
            </a:r>
            <a:r>
              <a:rPr dirty="0" sz="950" spc="4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35" b="1">
                <a:solidFill>
                  <a:srgbClr val="D5D9D6"/>
                </a:solidFill>
                <a:latin typeface="Tahoma"/>
                <a:cs typeface="Tahoma"/>
              </a:rPr>
              <a:t>labeled</a:t>
            </a:r>
            <a:r>
              <a:rPr dirty="0" sz="950" spc="2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40" b="1">
                <a:solidFill>
                  <a:srgbClr val="D5D9D6"/>
                </a:solidFill>
                <a:latin typeface="Tahoma"/>
                <a:cs typeface="Tahoma"/>
              </a:rPr>
              <a:t>utterances</a:t>
            </a:r>
            <a:r>
              <a:rPr dirty="0" sz="950" spc="-40">
                <a:solidFill>
                  <a:srgbClr val="D5D9D6"/>
                </a:solidFill>
                <a:latin typeface="Tahoma"/>
                <a:cs typeface="Tahoma"/>
              </a:rPr>
              <a:t>,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combining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GoEmotions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dataset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dair-ai/emotion</a:t>
            </a:r>
            <a:r>
              <a:rPr dirty="0" sz="950" spc="2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corpus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broad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emotional coverage.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38673" y="3590035"/>
            <a:ext cx="3343275" cy="905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7F7F8"/>
                </a:solidFill>
                <a:latin typeface="Arial MT"/>
                <a:cs typeface="Arial MT"/>
              </a:rPr>
              <a:t>Performance</a:t>
            </a:r>
            <a:endParaRPr sz="1200">
              <a:latin typeface="Arial MT"/>
              <a:cs typeface="Arial MT"/>
            </a:endParaRPr>
          </a:p>
          <a:p>
            <a:pPr algn="just" marL="12700" marR="5080">
              <a:lnSpc>
                <a:spcPct val="132600"/>
              </a:lnSpc>
              <a:spcBef>
                <a:spcPts val="950"/>
              </a:spcBef>
            </a:pP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Achieves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25" b="1">
                <a:solidFill>
                  <a:srgbClr val="D5D9D6"/>
                </a:solidFill>
                <a:latin typeface="Tahoma"/>
                <a:cs typeface="Tahoma"/>
              </a:rPr>
              <a:t>73.14%</a:t>
            </a:r>
            <a:r>
              <a:rPr dirty="0" sz="950" spc="9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35" b="1">
                <a:solidFill>
                  <a:srgbClr val="D5D9D6"/>
                </a:solidFill>
                <a:latin typeface="Tahoma"/>
                <a:cs typeface="Tahoma"/>
              </a:rPr>
              <a:t>classification</a:t>
            </a:r>
            <a:r>
              <a:rPr dirty="0" sz="950" spc="7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D5D9D6"/>
                </a:solidFill>
                <a:latin typeface="Tahoma"/>
                <a:cs typeface="Tahoma"/>
              </a:rPr>
              <a:t>accuracy</a:t>
            </a:r>
            <a:r>
              <a:rPr dirty="0" sz="950" spc="114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sub-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second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inference</a:t>
            </a:r>
            <a:r>
              <a:rPr dirty="0" sz="950" spc="-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times</a:t>
            </a:r>
            <a:r>
              <a:rPr dirty="0" sz="95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dirty="0" sz="95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standard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CPUs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75">
                <a:solidFill>
                  <a:srgbClr val="D5D9D6"/>
                </a:solidFill>
                <a:latin typeface="Tahoma"/>
                <a:cs typeface="Tahoma"/>
              </a:rPr>
              <a:t>—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 making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it</a:t>
            </a:r>
            <a:r>
              <a:rPr dirty="0" sz="950" spc="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suitable</a:t>
            </a:r>
            <a:r>
              <a:rPr dirty="0" sz="95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D5D9D6"/>
                </a:solidFill>
                <a:latin typeface="Tahoma"/>
                <a:cs typeface="Tahoma"/>
              </a:rPr>
              <a:t>for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real-time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conversational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deployment.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10779" y="4853350"/>
            <a:ext cx="1094740" cy="262255"/>
          </a:xfrm>
          <a:custGeom>
            <a:avLst/>
            <a:gdLst/>
            <a:ahLst/>
            <a:cxnLst/>
            <a:rect l="l" t="t" r="r" b="b"/>
            <a:pathLst>
              <a:path w="1094740" h="262254">
                <a:moveTo>
                  <a:pt x="1094308" y="0"/>
                </a:moveTo>
                <a:lnTo>
                  <a:pt x="0" y="0"/>
                </a:lnTo>
                <a:lnTo>
                  <a:pt x="0" y="262242"/>
                </a:lnTo>
                <a:lnTo>
                  <a:pt x="1094308" y="262242"/>
                </a:lnTo>
                <a:lnTo>
                  <a:pt x="1094308" y="0"/>
                </a:lnTo>
                <a:close/>
              </a:path>
            </a:pathLst>
          </a:custGeom>
          <a:solidFill>
            <a:srgbClr val="2E30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1640" y="366521"/>
            <a:ext cx="422973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Delivering</a:t>
            </a:r>
            <a:r>
              <a:rPr dirty="0" sz="2100" spc="155"/>
              <a:t> </a:t>
            </a:r>
            <a:r>
              <a:rPr dirty="0" sz="2100" spc="95"/>
              <a:t>Empathetic</a:t>
            </a:r>
            <a:r>
              <a:rPr dirty="0" sz="2100" spc="180"/>
              <a:t> </a:t>
            </a:r>
            <a:r>
              <a:rPr dirty="0" sz="2100" spc="-10"/>
              <a:t>Responses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434136" y="877316"/>
            <a:ext cx="1937385" cy="195580"/>
          </a:xfrm>
          <a:custGeom>
            <a:avLst/>
            <a:gdLst/>
            <a:ahLst/>
            <a:cxnLst/>
            <a:rect l="l" t="t" r="r" b="b"/>
            <a:pathLst>
              <a:path w="1937385" h="195580">
                <a:moveTo>
                  <a:pt x="1931365" y="0"/>
                </a:moveTo>
                <a:lnTo>
                  <a:pt x="5829" y="0"/>
                </a:lnTo>
                <a:lnTo>
                  <a:pt x="0" y="5842"/>
                </a:lnTo>
                <a:lnTo>
                  <a:pt x="0" y="12954"/>
                </a:lnTo>
                <a:lnTo>
                  <a:pt x="0" y="189357"/>
                </a:lnTo>
                <a:lnTo>
                  <a:pt x="5829" y="195199"/>
                </a:lnTo>
                <a:lnTo>
                  <a:pt x="1931365" y="195199"/>
                </a:lnTo>
                <a:lnTo>
                  <a:pt x="1937080" y="189357"/>
                </a:lnTo>
                <a:lnTo>
                  <a:pt x="1937080" y="5842"/>
                </a:lnTo>
                <a:lnTo>
                  <a:pt x="1931365" y="0"/>
                </a:lnTo>
                <a:close/>
              </a:path>
            </a:pathLst>
          </a:custGeom>
          <a:solidFill>
            <a:srgbClr val="11074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136" y="1611693"/>
            <a:ext cx="542696" cy="26048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1640" y="908050"/>
            <a:ext cx="8110220" cy="3150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95"/>
              </a:spcBef>
            </a:pPr>
            <a:r>
              <a:rPr dirty="0" sz="650" spc="20">
                <a:solidFill>
                  <a:srgbClr val="D5D9D6"/>
                </a:solidFill>
                <a:latin typeface="Tahoma"/>
                <a:cs typeface="Tahoma"/>
              </a:rPr>
              <a:t>EMOTION-AWARE</a:t>
            </a:r>
            <a:r>
              <a:rPr dirty="0" sz="6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650" spc="20">
                <a:solidFill>
                  <a:srgbClr val="D5D9D6"/>
                </a:solidFill>
                <a:latin typeface="Tahoma"/>
                <a:cs typeface="Tahoma"/>
              </a:rPr>
              <a:t>RESPONSE</a:t>
            </a:r>
            <a:r>
              <a:rPr dirty="0" sz="6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650" spc="-10">
                <a:solidFill>
                  <a:srgbClr val="D5D9D6"/>
                </a:solidFill>
                <a:latin typeface="Tahoma"/>
                <a:cs typeface="Tahoma"/>
              </a:rPr>
              <a:t>GENERATION</a:t>
            </a:r>
            <a:endParaRPr sz="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850" spc="50">
                <a:solidFill>
                  <a:srgbClr val="D5D9D6"/>
                </a:solidFill>
                <a:latin typeface="Tahoma"/>
                <a:cs typeface="Tahoma"/>
              </a:rPr>
              <a:t>Once</a:t>
            </a:r>
            <a:r>
              <a:rPr dirty="0" sz="85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an</a:t>
            </a:r>
            <a:r>
              <a:rPr dirty="0" sz="8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emotion</a:t>
            </a:r>
            <a:r>
              <a:rPr dirty="0" sz="8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is</a:t>
            </a:r>
            <a:r>
              <a:rPr dirty="0" sz="8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detected,</a:t>
            </a:r>
            <a:r>
              <a:rPr dirty="0" sz="8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MindCare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AI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doesn't</a:t>
            </a:r>
            <a:r>
              <a:rPr dirty="0" sz="8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just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reply</a:t>
            </a:r>
            <a:r>
              <a:rPr dirty="0" sz="8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75">
                <a:solidFill>
                  <a:srgbClr val="D5D9D6"/>
                </a:solidFill>
                <a:latin typeface="Tahoma"/>
                <a:cs typeface="Tahoma"/>
              </a:rPr>
              <a:t>—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it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responds</a:t>
            </a:r>
            <a:r>
              <a:rPr dirty="0" sz="8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8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intention.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detected</a:t>
            </a:r>
            <a:r>
              <a:rPr dirty="0" sz="8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emotion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label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is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injected</a:t>
            </a:r>
            <a:r>
              <a:rPr dirty="0" sz="8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directly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into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LLM's</a:t>
            </a:r>
            <a:r>
              <a:rPr dirty="0" sz="85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D5D9D6"/>
                </a:solidFill>
                <a:latin typeface="Tahoma"/>
                <a:cs typeface="Tahoma"/>
              </a:rPr>
              <a:t>system</a:t>
            </a:r>
            <a:endParaRPr sz="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prompt,</a:t>
            </a:r>
            <a:r>
              <a:rPr dirty="0" sz="8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instructing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Meta</a:t>
            </a:r>
            <a:r>
              <a:rPr dirty="0" sz="8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75">
                <a:solidFill>
                  <a:srgbClr val="D5D9D6"/>
                </a:solidFill>
                <a:latin typeface="Tahoma"/>
                <a:cs typeface="Tahoma"/>
              </a:rPr>
              <a:t>LLAMA</a:t>
            </a:r>
            <a:r>
              <a:rPr dirty="0" sz="8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D5D9D6"/>
                </a:solidFill>
                <a:latin typeface="Tahoma"/>
                <a:cs typeface="Tahoma"/>
              </a:rPr>
              <a:t>3.1</a:t>
            </a:r>
            <a:r>
              <a:rPr dirty="0" sz="8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adopt</a:t>
            </a:r>
            <a:r>
              <a:rPr dirty="0" sz="8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role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of</a:t>
            </a:r>
            <a:r>
              <a:rPr dirty="0" sz="8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8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supportive</a:t>
            </a:r>
            <a:r>
              <a:rPr dirty="0" sz="8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mental</a:t>
            </a:r>
            <a:r>
              <a:rPr dirty="0" sz="8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health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companion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calibrated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8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user's</a:t>
            </a:r>
            <a:r>
              <a:rPr dirty="0" sz="8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current</a:t>
            </a:r>
            <a:r>
              <a:rPr dirty="0" sz="8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emotional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D5D9D6"/>
                </a:solidFill>
                <a:latin typeface="Tahoma"/>
                <a:cs typeface="Tahoma"/>
              </a:rPr>
              <a:t>state.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850">
              <a:latin typeface="Tahoma"/>
              <a:cs typeface="Tahoma"/>
            </a:endParaRPr>
          </a:p>
          <a:p>
            <a:pPr marL="650240">
              <a:lnSpc>
                <a:spcPct val="100000"/>
              </a:lnSpc>
            </a:pPr>
            <a:r>
              <a:rPr dirty="0" sz="1050">
                <a:solidFill>
                  <a:srgbClr val="D5D9D6"/>
                </a:solidFill>
                <a:latin typeface="Arial MT"/>
                <a:cs typeface="Arial MT"/>
              </a:rPr>
              <a:t>User</a:t>
            </a:r>
            <a:r>
              <a:rPr dirty="0" sz="1050" spc="-3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050" spc="40">
                <a:solidFill>
                  <a:srgbClr val="D5D9D6"/>
                </a:solidFill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  <a:p>
            <a:pPr marL="650240">
              <a:lnSpc>
                <a:spcPct val="100000"/>
              </a:lnSpc>
              <a:spcBef>
                <a:spcPts val="700"/>
              </a:spcBef>
            </a:pP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User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sends</a:t>
            </a:r>
            <a:r>
              <a:rPr dirty="0" sz="8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8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message</a:t>
            </a:r>
            <a:r>
              <a:rPr dirty="0" sz="8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through</a:t>
            </a:r>
            <a:r>
              <a:rPr dirty="0" sz="8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chat</a:t>
            </a:r>
            <a:r>
              <a:rPr dirty="0" sz="8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D5D9D6"/>
                </a:solidFill>
                <a:latin typeface="Tahoma"/>
                <a:cs typeface="Tahoma"/>
              </a:rPr>
              <a:t>interface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850">
              <a:latin typeface="Tahoma"/>
              <a:cs typeface="Tahoma"/>
            </a:endParaRPr>
          </a:p>
          <a:p>
            <a:pPr marL="650240">
              <a:lnSpc>
                <a:spcPct val="100000"/>
              </a:lnSpc>
            </a:pPr>
            <a:r>
              <a:rPr dirty="0" sz="1050" spc="10">
                <a:solidFill>
                  <a:srgbClr val="D5D9D6"/>
                </a:solidFill>
                <a:latin typeface="Arial MT"/>
                <a:cs typeface="Arial MT"/>
              </a:rPr>
              <a:t>Emotion</a:t>
            </a:r>
            <a:r>
              <a:rPr dirty="0" sz="1050" spc="12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D5D9D6"/>
                </a:solidFill>
                <a:latin typeface="Arial MT"/>
                <a:cs typeface="Arial MT"/>
              </a:rPr>
              <a:t>Classification</a:t>
            </a:r>
            <a:endParaRPr sz="1050">
              <a:latin typeface="Arial MT"/>
              <a:cs typeface="Arial MT"/>
            </a:endParaRPr>
          </a:p>
          <a:p>
            <a:pPr marL="650240">
              <a:lnSpc>
                <a:spcPct val="100000"/>
              </a:lnSpc>
              <a:spcBef>
                <a:spcPts val="700"/>
              </a:spcBef>
            </a:pP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DistilBERT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detects</a:t>
            </a:r>
            <a:r>
              <a:rPr dirty="0" sz="8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8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emotional</a:t>
            </a:r>
            <a:r>
              <a:rPr dirty="0" sz="8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category</a:t>
            </a:r>
            <a:r>
              <a:rPr dirty="0" sz="8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in</a:t>
            </a:r>
            <a:r>
              <a:rPr dirty="0" sz="8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10">
                <a:solidFill>
                  <a:srgbClr val="D5D9D6"/>
                </a:solidFill>
                <a:latin typeface="Tahoma"/>
                <a:cs typeface="Tahoma"/>
              </a:rPr>
              <a:t>real-</a:t>
            </a:r>
            <a:r>
              <a:rPr dirty="0" sz="850" spc="-20">
                <a:solidFill>
                  <a:srgbClr val="D5D9D6"/>
                </a:solidFill>
                <a:latin typeface="Tahoma"/>
                <a:cs typeface="Tahoma"/>
              </a:rPr>
              <a:t>time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850">
              <a:latin typeface="Tahoma"/>
              <a:cs typeface="Tahoma"/>
            </a:endParaRPr>
          </a:p>
          <a:p>
            <a:pPr marL="650240">
              <a:lnSpc>
                <a:spcPct val="100000"/>
              </a:lnSpc>
            </a:pPr>
            <a:r>
              <a:rPr dirty="0" sz="1050" spc="10">
                <a:solidFill>
                  <a:srgbClr val="D5D9D6"/>
                </a:solidFill>
                <a:latin typeface="Arial MT"/>
                <a:cs typeface="Arial MT"/>
              </a:rPr>
              <a:t>Prompt</a:t>
            </a:r>
            <a:r>
              <a:rPr dirty="0" sz="1050" spc="16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D5D9D6"/>
                </a:solidFill>
                <a:latin typeface="Arial MT"/>
                <a:cs typeface="Arial MT"/>
              </a:rPr>
              <a:t>Engineering</a:t>
            </a:r>
            <a:endParaRPr sz="1050">
              <a:latin typeface="Arial MT"/>
              <a:cs typeface="Arial MT"/>
            </a:endParaRPr>
          </a:p>
          <a:p>
            <a:pPr marL="650240">
              <a:lnSpc>
                <a:spcPct val="100000"/>
              </a:lnSpc>
              <a:spcBef>
                <a:spcPts val="700"/>
              </a:spcBef>
            </a:pP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Emotion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label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is</a:t>
            </a:r>
            <a:r>
              <a:rPr dirty="0" sz="8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embedded</a:t>
            </a:r>
            <a:r>
              <a:rPr dirty="0" sz="8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into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850" spc="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LLM</a:t>
            </a:r>
            <a:r>
              <a:rPr dirty="0" sz="8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system</a:t>
            </a:r>
            <a:r>
              <a:rPr dirty="0" sz="8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D5D9D6"/>
                </a:solidFill>
                <a:latin typeface="Tahoma"/>
                <a:cs typeface="Tahoma"/>
              </a:rPr>
              <a:t>prompt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850">
              <a:latin typeface="Tahoma"/>
              <a:cs typeface="Tahoma"/>
            </a:endParaRPr>
          </a:p>
          <a:p>
            <a:pPr marL="650240">
              <a:lnSpc>
                <a:spcPct val="100000"/>
              </a:lnSpc>
              <a:spcBef>
                <a:spcPts val="5"/>
              </a:spcBef>
            </a:pPr>
            <a:r>
              <a:rPr dirty="0" sz="1050" spc="50">
                <a:solidFill>
                  <a:srgbClr val="D5D9D6"/>
                </a:solidFill>
                <a:latin typeface="Arial MT"/>
                <a:cs typeface="Arial MT"/>
              </a:rPr>
              <a:t>Empathetic</a:t>
            </a:r>
            <a:r>
              <a:rPr dirty="0" sz="1050" spc="-4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D5D9D6"/>
                </a:solidFill>
                <a:latin typeface="Arial MT"/>
                <a:cs typeface="Arial MT"/>
              </a:rPr>
              <a:t>Reply</a:t>
            </a:r>
            <a:endParaRPr sz="1050">
              <a:latin typeface="Arial MT"/>
              <a:cs typeface="Arial MT"/>
            </a:endParaRPr>
          </a:p>
          <a:p>
            <a:pPr marL="650240">
              <a:lnSpc>
                <a:spcPct val="100000"/>
              </a:lnSpc>
              <a:spcBef>
                <a:spcPts val="695"/>
              </a:spcBef>
            </a:pPr>
            <a:r>
              <a:rPr dirty="0" sz="850" spc="70">
                <a:solidFill>
                  <a:srgbClr val="D5D9D6"/>
                </a:solidFill>
                <a:latin typeface="Tahoma"/>
                <a:cs typeface="Tahoma"/>
              </a:rPr>
              <a:t>LLAMA</a:t>
            </a:r>
            <a:r>
              <a:rPr dirty="0" sz="8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D5D9D6"/>
                </a:solidFill>
                <a:latin typeface="Tahoma"/>
                <a:cs typeface="Tahoma"/>
              </a:rPr>
              <a:t>3.1</a:t>
            </a:r>
            <a:r>
              <a:rPr dirty="0" sz="850" spc="1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generates</a:t>
            </a:r>
            <a:r>
              <a:rPr dirty="0" sz="8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8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context-aware,</a:t>
            </a:r>
            <a:r>
              <a:rPr dirty="0" sz="8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supportive</a:t>
            </a:r>
            <a:r>
              <a:rPr dirty="0" sz="8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D5D9D6"/>
                </a:solidFill>
                <a:latin typeface="Tahoma"/>
                <a:cs typeface="Tahoma"/>
              </a:rPr>
              <a:t>response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4136" y="4323308"/>
            <a:ext cx="8275955" cy="424815"/>
            <a:chOff x="434136" y="4323308"/>
            <a:chExt cx="8275955" cy="424815"/>
          </a:xfrm>
        </p:grpSpPr>
        <p:sp>
          <p:nvSpPr>
            <p:cNvPr id="8" name="object 8"/>
            <p:cNvSpPr/>
            <p:nvPr/>
          </p:nvSpPr>
          <p:spPr>
            <a:xfrm>
              <a:off x="434136" y="4323308"/>
              <a:ext cx="8275955" cy="424815"/>
            </a:xfrm>
            <a:custGeom>
              <a:avLst/>
              <a:gdLst/>
              <a:ahLst/>
              <a:cxnLst/>
              <a:rect l="l" t="t" r="r" b="b"/>
              <a:pathLst>
                <a:path w="8275955" h="424814">
                  <a:moveTo>
                    <a:pt x="8268411" y="0"/>
                  </a:moveTo>
                  <a:lnTo>
                    <a:pt x="7289" y="0"/>
                  </a:lnTo>
                  <a:lnTo>
                    <a:pt x="0" y="7289"/>
                  </a:lnTo>
                  <a:lnTo>
                    <a:pt x="0" y="16281"/>
                  </a:lnTo>
                  <a:lnTo>
                    <a:pt x="0" y="417245"/>
                  </a:lnTo>
                  <a:lnTo>
                    <a:pt x="7289" y="424535"/>
                  </a:lnTo>
                  <a:lnTo>
                    <a:pt x="8268411" y="424535"/>
                  </a:lnTo>
                  <a:lnTo>
                    <a:pt x="8275777" y="417245"/>
                  </a:lnTo>
                  <a:lnTo>
                    <a:pt x="8275777" y="7289"/>
                  </a:lnTo>
                  <a:lnTo>
                    <a:pt x="8268411" y="0"/>
                  </a:lnTo>
                  <a:close/>
                </a:path>
              </a:pathLst>
            </a:custGeom>
            <a:solidFill>
              <a:srgbClr val="0122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632" y="4482999"/>
              <a:ext cx="135661" cy="10849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74293" y="4447743"/>
            <a:ext cx="768985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Conversation</a:t>
            </a:r>
            <a:r>
              <a:rPr dirty="0" sz="8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memory</a:t>
            </a:r>
            <a:r>
              <a:rPr dirty="0" sz="85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85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maintained</a:t>
            </a:r>
            <a:r>
              <a:rPr dirty="0" sz="8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50">
                <a:solidFill>
                  <a:srgbClr val="FFFFFF"/>
                </a:solidFill>
                <a:latin typeface="Tahoma"/>
                <a:cs typeface="Tahoma"/>
              </a:rPr>
              <a:t>across</a:t>
            </a:r>
            <a:r>
              <a:rPr dirty="0" sz="8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turns,</a:t>
            </a:r>
            <a:r>
              <a:rPr dirty="0" sz="85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ensuring</a:t>
            </a:r>
            <a:r>
              <a:rPr dirty="0" sz="85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replies</a:t>
            </a:r>
            <a:r>
              <a:rPr dirty="0" sz="85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flow</a:t>
            </a:r>
            <a:r>
              <a:rPr dirty="0" sz="850" spc="10">
                <a:solidFill>
                  <a:srgbClr val="FFFFFF"/>
                </a:solidFill>
                <a:latin typeface="Tahoma"/>
                <a:cs typeface="Tahoma"/>
              </a:rPr>
              <a:t> naturally</a:t>
            </a:r>
            <a:r>
              <a:rPr dirty="0" sz="85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85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match</a:t>
            </a:r>
            <a:r>
              <a:rPr dirty="0" sz="85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85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user's evolving</a:t>
            </a:r>
            <a:r>
              <a:rPr dirty="0" sz="8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emotional</a:t>
            </a:r>
            <a:r>
              <a:rPr dirty="0" sz="8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tone</a:t>
            </a:r>
            <a:r>
              <a:rPr dirty="0" sz="850" spc="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throughout</a:t>
            </a:r>
            <a:r>
              <a:rPr dirty="0" sz="85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85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Tahoma"/>
                <a:cs typeface="Tahoma"/>
              </a:rPr>
              <a:t>session.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10779" y="4853350"/>
            <a:ext cx="1094740" cy="262255"/>
          </a:xfrm>
          <a:custGeom>
            <a:avLst/>
            <a:gdLst/>
            <a:ahLst/>
            <a:cxnLst/>
            <a:rect l="l" t="t" r="r" b="b"/>
            <a:pathLst>
              <a:path w="1094740" h="262254">
                <a:moveTo>
                  <a:pt x="1094308" y="0"/>
                </a:moveTo>
                <a:lnTo>
                  <a:pt x="0" y="0"/>
                </a:lnTo>
                <a:lnTo>
                  <a:pt x="0" y="262242"/>
                </a:lnTo>
                <a:lnTo>
                  <a:pt x="1094308" y="262242"/>
                </a:lnTo>
                <a:lnTo>
                  <a:pt x="1094308" y="0"/>
                </a:lnTo>
                <a:close/>
              </a:path>
            </a:pathLst>
          </a:custGeom>
          <a:solidFill>
            <a:srgbClr val="2E30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1747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Beyond</a:t>
            </a:r>
            <a:r>
              <a:rPr dirty="0" spc="-10"/>
              <a:t> </a:t>
            </a:r>
            <a:r>
              <a:rPr dirty="0"/>
              <a:t>Chat:</a:t>
            </a:r>
            <a:r>
              <a:rPr dirty="0" spc="-20"/>
              <a:t> </a:t>
            </a:r>
            <a:r>
              <a:rPr dirty="0" spc="95"/>
              <a:t>Analytics</a:t>
            </a:r>
            <a:r>
              <a:rPr dirty="0" spc="-20"/>
              <a:t> </a:t>
            </a:r>
            <a:r>
              <a:rPr dirty="0" spc="190"/>
              <a:t>&amp;</a:t>
            </a:r>
            <a:r>
              <a:rPr dirty="0" spc="-10"/>
              <a:t> </a:t>
            </a:r>
            <a:r>
              <a:rPr dirty="0" spc="95"/>
              <a:t>Protection</a:t>
            </a:r>
          </a:p>
        </p:txBody>
      </p:sp>
      <p:sp>
        <p:nvSpPr>
          <p:cNvPr id="4" name="object 4"/>
          <p:cNvSpPr/>
          <p:nvPr/>
        </p:nvSpPr>
        <p:spPr>
          <a:xfrm>
            <a:off x="496112" y="1234186"/>
            <a:ext cx="1826895" cy="233679"/>
          </a:xfrm>
          <a:custGeom>
            <a:avLst/>
            <a:gdLst/>
            <a:ahLst/>
            <a:cxnLst/>
            <a:rect l="l" t="t" r="r" b="b"/>
            <a:pathLst>
              <a:path w="1826895" h="233680">
                <a:moveTo>
                  <a:pt x="1819732" y="0"/>
                </a:moveTo>
                <a:lnTo>
                  <a:pt x="6667" y="0"/>
                </a:lnTo>
                <a:lnTo>
                  <a:pt x="0" y="6603"/>
                </a:lnTo>
                <a:lnTo>
                  <a:pt x="0" y="14859"/>
                </a:lnTo>
                <a:lnTo>
                  <a:pt x="0" y="226567"/>
                </a:lnTo>
                <a:lnTo>
                  <a:pt x="6667" y="233172"/>
                </a:lnTo>
                <a:lnTo>
                  <a:pt x="1819732" y="233172"/>
                </a:lnTo>
                <a:lnTo>
                  <a:pt x="1826463" y="226567"/>
                </a:lnTo>
                <a:lnTo>
                  <a:pt x="1826463" y="6603"/>
                </a:lnTo>
                <a:lnTo>
                  <a:pt x="1819732" y="0"/>
                </a:lnTo>
                <a:close/>
              </a:path>
            </a:pathLst>
          </a:custGeom>
          <a:solidFill>
            <a:srgbClr val="1107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3514" y="1276934"/>
            <a:ext cx="8121650" cy="7042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05"/>
              </a:spcBef>
            </a:pPr>
            <a:r>
              <a:rPr dirty="0" sz="750" spc="50">
                <a:solidFill>
                  <a:srgbClr val="D5D9D6"/>
                </a:solidFill>
                <a:latin typeface="Tahoma"/>
                <a:cs typeface="Tahoma"/>
              </a:rPr>
              <a:t>WELLNESS</a:t>
            </a:r>
            <a:r>
              <a:rPr dirty="0" sz="750" spc="-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30">
                <a:solidFill>
                  <a:srgbClr val="D5D9D6"/>
                </a:solidFill>
                <a:latin typeface="Tahoma"/>
                <a:cs typeface="Tahoma"/>
              </a:rPr>
              <a:t>DASHBOARD</a:t>
            </a:r>
            <a:r>
              <a:rPr dirty="0" sz="750" spc="-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20">
                <a:solidFill>
                  <a:srgbClr val="D5D9D6"/>
                </a:solidFill>
                <a:latin typeface="Tahoma"/>
                <a:cs typeface="Tahoma"/>
              </a:rPr>
              <a:t>&amp;</a:t>
            </a:r>
            <a:r>
              <a:rPr dirty="0" sz="75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40">
                <a:solidFill>
                  <a:srgbClr val="D5D9D6"/>
                </a:solidFill>
                <a:latin typeface="Tahoma"/>
                <a:cs typeface="Tahoma"/>
              </a:rPr>
              <a:t>SAFETY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750">
              <a:latin typeface="Tahoma"/>
              <a:cs typeface="Tahoma"/>
            </a:endParaRPr>
          </a:p>
          <a:p>
            <a:pPr marL="12700" marR="5080">
              <a:lnSpc>
                <a:spcPct val="132600"/>
              </a:lnSpc>
            </a:pP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MindCare</a:t>
            </a:r>
            <a:r>
              <a:rPr dirty="0" sz="950" spc="2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AI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extends</a:t>
            </a:r>
            <a:r>
              <a:rPr dirty="0" sz="9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well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beyond</a:t>
            </a:r>
            <a:r>
              <a:rPr dirty="0" sz="950" spc="229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conversation</a:t>
            </a:r>
            <a:r>
              <a:rPr dirty="0" sz="950" spc="2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window.</a:t>
            </a:r>
            <a:r>
              <a:rPr dirty="0" sz="950" spc="1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1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dedicated</a:t>
            </a:r>
            <a:r>
              <a:rPr dirty="0" sz="950" spc="2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wellness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dashboard</a:t>
            </a:r>
            <a:r>
              <a:rPr dirty="0" sz="950" spc="2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helps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users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track</a:t>
            </a:r>
            <a:r>
              <a:rPr dirty="0" sz="950" spc="2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their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emotional</a:t>
            </a:r>
            <a:r>
              <a:rPr dirty="0" sz="950" spc="2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patterns</a:t>
            </a:r>
            <a:r>
              <a:rPr dirty="0" sz="950" spc="2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D5D9D6"/>
                </a:solidFill>
                <a:latin typeface="Tahoma"/>
                <a:cs typeface="Tahoma"/>
              </a:rPr>
              <a:t>over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time,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while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robust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safety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layer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ensures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that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crisis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situations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are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handled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care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urgency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75">
                <a:solidFill>
                  <a:srgbClr val="D5D9D6"/>
                </a:solidFill>
                <a:latin typeface="Tahoma"/>
                <a:cs typeface="Tahoma"/>
              </a:rPr>
              <a:t>—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before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any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AI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response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is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even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generated.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59" y="2414016"/>
            <a:ext cx="392430" cy="3208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3514" y="3106877"/>
            <a:ext cx="93345" cy="38227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•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•</a:t>
            </a:r>
            <a:endParaRPr sz="9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514" y="3675634"/>
            <a:ext cx="9334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•</a:t>
            </a:r>
            <a:endParaRPr sz="9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514" y="2444623"/>
            <a:ext cx="3792220" cy="140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079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7F7F8"/>
                </a:solidFill>
                <a:latin typeface="Arial MT"/>
                <a:cs typeface="Arial MT"/>
              </a:rPr>
              <a:t>Wellness</a:t>
            </a:r>
            <a:r>
              <a:rPr dirty="0" sz="1200" spc="130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7F7F8"/>
                </a:solidFill>
                <a:latin typeface="Arial MT"/>
                <a:cs typeface="Arial MT"/>
              </a:rPr>
              <a:t>Dashboard</a:t>
            </a:r>
            <a:endParaRPr sz="1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0"/>
              </a:spcBef>
              <a:buFont typeface="Tahoma"/>
              <a:buChar char="•"/>
              <a:tabLst>
                <a:tab pos="354965" algn="l"/>
              </a:tabLst>
            </a:pPr>
            <a:r>
              <a:rPr dirty="0" sz="950" spc="-60" b="1">
                <a:solidFill>
                  <a:srgbClr val="D5D9D6"/>
                </a:solidFill>
                <a:latin typeface="Tahoma"/>
                <a:cs typeface="Tahoma"/>
              </a:rPr>
              <a:t>14-</a:t>
            </a:r>
            <a:r>
              <a:rPr dirty="0" sz="950" spc="-35" b="1">
                <a:solidFill>
                  <a:srgbClr val="D5D9D6"/>
                </a:solidFill>
                <a:latin typeface="Tahoma"/>
                <a:cs typeface="Tahoma"/>
              </a:rPr>
              <a:t>day</a:t>
            </a:r>
            <a:r>
              <a:rPr dirty="0" sz="950" spc="7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 b="1">
                <a:solidFill>
                  <a:srgbClr val="D5D9D6"/>
                </a:solidFill>
                <a:latin typeface="Tahoma"/>
                <a:cs typeface="Tahoma"/>
              </a:rPr>
              <a:t>mood</a:t>
            </a:r>
            <a:r>
              <a:rPr dirty="0" sz="950" spc="13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50" b="1">
                <a:solidFill>
                  <a:srgbClr val="D5D9D6"/>
                </a:solidFill>
                <a:latin typeface="Tahoma"/>
                <a:cs typeface="Tahoma"/>
              </a:rPr>
              <a:t>trend</a:t>
            </a:r>
            <a:r>
              <a:rPr dirty="0" sz="950" spc="8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35" b="1">
                <a:solidFill>
                  <a:srgbClr val="D5D9D6"/>
                </a:solidFill>
                <a:latin typeface="Tahoma"/>
                <a:cs typeface="Tahoma"/>
              </a:rPr>
              <a:t>chart</a:t>
            </a:r>
            <a:r>
              <a:rPr dirty="0" sz="950" spc="8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visualizing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emotional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patterns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D5D9D6"/>
                </a:solidFill>
                <a:latin typeface="Tahoma"/>
                <a:cs typeface="Tahoma"/>
              </a:rPr>
              <a:t>over</a:t>
            </a:r>
            <a:endParaRPr sz="95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250"/>
              </a:spcBef>
            </a:pPr>
            <a:r>
              <a:rPr dirty="0" sz="950" spc="-20">
                <a:solidFill>
                  <a:srgbClr val="D5D9D6"/>
                </a:solidFill>
                <a:latin typeface="Tahoma"/>
                <a:cs typeface="Tahoma"/>
              </a:rPr>
              <a:t>time</a:t>
            </a:r>
            <a:endParaRPr sz="950">
              <a:latin typeface="Tahoma"/>
              <a:cs typeface="Tahoma"/>
            </a:endParaRPr>
          </a:p>
          <a:p>
            <a:pPr marL="355600" marR="243204">
              <a:lnSpc>
                <a:spcPct val="123200"/>
              </a:lnSpc>
              <a:spcBef>
                <a:spcPts val="5"/>
              </a:spcBef>
            </a:pP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Daily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mood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check-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ins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encourage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self-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reflection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Personalized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wellness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tips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based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detected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emotional trends</a:t>
            </a:r>
            <a:endParaRPr sz="95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260"/>
              </a:spcBef>
            </a:pP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Exportable</a:t>
            </a:r>
            <a:r>
              <a:rPr dirty="0" sz="9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chat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history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in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b="1">
                <a:solidFill>
                  <a:srgbClr val="D5D9D6"/>
                </a:solidFill>
                <a:latin typeface="Tahoma"/>
                <a:cs typeface="Tahoma"/>
              </a:rPr>
              <a:t>TXT</a:t>
            </a:r>
            <a:r>
              <a:rPr dirty="0" sz="950" spc="6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30" b="1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0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b="1">
                <a:solidFill>
                  <a:srgbClr val="D5D9D6"/>
                </a:solidFill>
                <a:latin typeface="Tahoma"/>
                <a:cs typeface="Tahoma"/>
              </a:rPr>
              <a:t>CSV</a:t>
            </a:r>
            <a:r>
              <a:rPr dirty="0" sz="950" spc="6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formats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38802" y="2341752"/>
            <a:ext cx="4103370" cy="2203450"/>
            <a:chOff x="4638802" y="2341752"/>
            <a:chExt cx="4103370" cy="2203450"/>
          </a:xfrm>
        </p:grpSpPr>
        <p:sp>
          <p:nvSpPr>
            <p:cNvPr id="11" name="object 11"/>
            <p:cNvSpPr/>
            <p:nvPr/>
          </p:nvSpPr>
          <p:spPr>
            <a:xfrm>
              <a:off x="4638802" y="2341752"/>
              <a:ext cx="4103370" cy="2203450"/>
            </a:xfrm>
            <a:custGeom>
              <a:avLst/>
              <a:gdLst/>
              <a:ahLst/>
              <a:cxnLst/>
              <a:rect l="l" t="t" r="r" b="b"/>
              <a:pathLst>
                <a:path w="4103370" h="2203450">
                  <a:moveTo>
                    <a:pt x="4084574" y="0"/>
                  </a:moveTo>
                  <a:lnTo>
                    <a:pt x="18542" y="0"/>
                  </a:lnTo>
                  <a:lnTo>
                    <a:pt x="11304" y="1470"/>
                  </a:lnTo>
                  <a:lnTo>
                    <a:pt x="5413" y="5476"/>
                  </a:lnTo>
                  <a:lnTo>
                    <a:pt x="1450" y="11412"/>
                  </a:lnTo>
                  <a:lnTo>
                    <a:pt x="0" y="18669"/>
                  </a:lnTo>
                  <a:lnTo>
                    <a:pt x="0" y="2184476"/>
                  </a:lnTo>
                  <a:lnTo>
                    <a:pt x="1450" y="2191717"/>
                  </a:lnTo>
                  <a:lnTo>
                    <a:pt x="5413" y="2197631"/>
                  </a:lnTo>
                  <a:lnTo>
                    <a:pt x="11304" y="2201619"/>
                  </a:lnTo>
                  <a:lnTo>
                    <a:pt x="18542" y="2203081"/>
                  </a:lnTo>
                  <a:lnTo>
                    <a:pt x="4084574" y="2203081"/>
                  </a:lnTo>
                  <a:lnTo>
                    <a:pt x="4091811" y="2201619"/>
                  </a:lnTo>
                  <a:lnTo>
                    <a:pt x="4097702" y="2197631"/>
                  </a:lnTo>
                  <a:lnTo>
                    <a:pt x="4101665" y="2191717"/>
                  </a:lnTo>
                  <a:lnTo>
                    <a:pt x="4103116" y="2184476"/>
                  </a:lnTo>
                  <a:lnTo>
                    <a:pt x="4103116" y="18669"/>
                  </a:lnTo>
                  <a:lnTo>
                    <a:pt x="4101665" y="11412"/>
                  </a:lnTo>
                  <a:lnTo>
                    <a:pt x="4097702" y="5476"/>
                  </a:lnTo>
                  <a:lnTo>
                    <a:pt x="4091811" y="1470"/>
                  </a:lnTo>
                  <a:lnTo>
                    <a:pt x="4084574" y="0"/>
                  </a:lnTo>
                  <a:close/>
                </a:path>
              </a:pathLst>
            </a:custGeom>
            <a:solidFill>
              <a:srgbClr val="AC9E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1060" y="2414015"/>
              <a:ext cx="392429" cy="32080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750689" y="3180333"/>
            <a:ext cx="9334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40">
                <a:latin typeface="Tahoma"/>
                <a:cs typeface="Tahoma"/>
              </a:rPr>
              <a:t>•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0689" y="3565905"/>
            <a:ext cx="9334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40">
                <a:latin typeface="Tahoma"/>
                <a:cs typeface="Tahoma"/>
              </a:rPr>
              <a:t>•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0689" y="3951223"/>
            <a:ext cx="9334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45">
                <a:latin typeface="Tahoma"/>
                <a:cs typeface="Tahoma"/>
              </a:rPr>
              <a:t>•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50689" y="2444623"/>
            <a:ext cx="3712845" cy="18694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079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Safety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First</a:t>
            </a:r>
            <a:endParaRPr sz="1200">
              <a:latin typeface="Arial MT"/>
              <a:cs typeface="Arial MT"/>
            </a:endParaRPr>
          </a:p>
          <a:p>
            <a:pPr marL="355600" marR="215900" indent="-342900">
              <a:lnSpc>
                <a:spcPct val="132800"/>
              </a:lnSpc>
              <a:spcBef>
                <a:spcPts val="950"/>
              </a:spcBef>
              <a:buChar char="•"/>
              <a:tabLst>
                <a:tab pos="355600" algn="l"/>
              </a:tabLst>
            </a:pPr>
            <a:r>
              <a:rPr dirty="0" sz="950">
                <a:latin typeface="Tahoma"/>
                <a:cs typeface="Tahoma"/>
              </a:rPr>
              <a:t>Strict</a:t>
            </a:r>
            <a:r>
              <a:rPr dirty="0" sz="950" spc="114">
                <a:latin typeface="Tahoma"/>
                <a:cs typeface="Tahoma"/>
              </a:rPr>
              <a:t> </a:t>
            </a:r>
            <a:r>
              <a:rPr dirty="0" sz="950" spc="45">
                <a:latin typeface="Tahoma"/>
                <a:cs typeface="Tahoma"/>
              </a:rPr>
              <a:t>keyword</a:t>
            </a:r>
            <a:r>
              <a:rPr dirty="0" sz="950" spc="165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filters</a:t>
            </a:r>
            <a:r>
              <a:rPr dirty="0" sz="950" spc="10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instantly</a:t>
            </a:r>
            <a:r>
              <a:rPr dirty="0" sz="950" spc="11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detect</a:t>
            </a:r>
            <a:r>
              <a:rPr dirty="0" sz="950" spc="135">
                <a:latin typeface="Tahoma"/>
                <a:cs typeface="Tahoma"/>
              </a:rPr>
              <a:t> </a:t>
            </a:r>
            <a:r>
              <a:rPr dirty="0" sz="950" spc="50">
                <a:latin typeface="Tahoma"/>
                <a:cs typeface="Tahoma"/>
              </a:rPr>
              <a:t>crisis</a:t>
            </a:r>
            <a:r>
              <a:rPr dirty="0" sz="950" spc="10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language</a:t>
            </a:r>
            <a:r>
              <a:rPr dirty="0" sz="950" spc="150">
                <a:latin typeface="Tahoma"/>
                <a:cs typeface="Tahoma"/>
              </a:rPr>
              <a:t> </a:t>
            </a:r>
            <a:r>
              <a:rPr dirty="0" sz="950" spc="-25">
                <a:latin typeface="Tahoma"/>
                <a:cs typeface="Tahoma"/>
              </a:rPr>
              <a:t>or </a:t>
            </a:r>
            <a:r>
              <a:rPr dirty="0" sz="950">
                <a:latin typeface="Tahoma"/>
                <a:cs typeface="Tahoma"/>
              </a:rPr>
              <a:t>harmful</a:t>
            </a:r>
            <a:r>
              <a:rPr dirty="0" sz="950" spc="160">
                <a:latin typeface="Tahoma"/>
                <a:cs typeface="Tahoma"/>
              </a:rPr>
              <a:t> </a:t>
            </a:r>
            <a:r>
              <a:rPr dirty="0" sz="950" spc="-10">
                <a:latin typeface="Tahoma"/>
                <a:cs typeface="Tahoma"/>
              </a:rPr>
              <a:t>content</a:t>
            </a:r>
            <a:endParaRPr sz="950">
              <a:latin typeface="Tahoma"/>
              <a:cs typeface="Tahoma"/>
            </a:endParaRPr>
          </a:p>
          <a:p>
            <a:pPr marL="355600" marR="259715">
              <a:lnSpc>
                <a:spcPts val="1520"/>
              </a:lnSpc>
              <a:spcBef>
                <a:spcPts val="105"/>
              </a:spcBef>
            </a:pPr>
            <a:r>
              <a:rPr dirty="0" sz="950" spc="50">
                <a:latin typeface="Tahoma"/>
                <a:cs typeface="Tahoma"/>
              </a:rPr>
              <a:t>At-</a:t>
            </a:r>
            <a:r>
              <a:rPr dirty="0" sz="950">
                <a:latin typeface="Tahoma"/>
                <a:cs typeface="Tahoma"/>
              </a:rPr>
              <a:t>risk</a:t>
            </a:r>
            <a:r>
              <a:rPr dirty="0" sz="950" spc="6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users</a:t>
            </a:r>
            <a:r>
              <a:rPr dirty="0" sz="950" spc="5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are</a:t>
            </a:r>
            <a:r>
              <a:rPr dirty="0" sz="950" spc="100">
                <a:latin typeface="Tahoma"/>
                <a:cs typeface="Tahoma"/>
              </a:rPr>
              <a:t> </a:t>
            </a:r>
            <a:r>
              <a:rPr dirty="0" sz="950" spc="-50" b="1">
                <a:latin typeface="Tahoma"/>
                <a:cs typeface="Tahoma"/>
              </a:rPr>
              <a:t>immediately</a:t>
            </a:r>
            <a:r>
              <a:rPr dirty="0" sz="950" spc="40" b="1">
                <a:latin typeface="Tahoma"/>
                <a:cs typeface="Tahoma"/>
              </a:rPr>
              <a:t> </a:t>
            </a:r>
            <a:r>
              <a:rPr dirty="0" sz="950" spc="-35" b="1">
                <a:latin typeface="Tahoma"/>
                <a:cs typeface="Tahoma"/>
              </a:rPr>
              <a:t>redirected</a:t>
            </a:r>
            <a:r>
              <a:rPr dirty="0" sz="950" spc="60" b="1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to</a:t>
            </a:r>
            <a:r>
              <a:rPr dirty="0" sz="950" spc="8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the</a:t>
            </a:r>
            <a:r>
              <a:rPr dirty="0" sz="950" spc="50">
                <a:latin typeface="Tahoma"/>
                <a:cs typeface="Tahoma"/>
              </a:rPr>
              <a:t> </a:t>
            </a:r>
            <a:r>
              <a:rPr dirty="0" sz="950" spc="40">
                <a:latin typeface="Tahoma"/>
                <a:cs typeface="Tahoma"/>
              </a:rPr>
              <a:t>AASRA </a:t>
            </a:r>
            <a:r>
              <a:rPr dirty="0" sz="950" spc="-10">
                <a:latin typeface="Tahoma"/>
                <a:cs typeface="Tahoma"/>
              </a:rPr>
              <a:t>helpline</a:t>
            </a:r>
            <a:endParaRPr sz="950">
              <a:latin typeface="Tahoma"/>
              <a:cs typeface="Tahoma"/>
            </a:endParaRPr>
          </a:p>
          <a:p>
            <a:pPr marL="355600" marR="249554">
              <a:lnSpc>
                <a:spcPts val="1510"/>
              </a:lnSpc>
              <a:spcBef>
                <a:spcPts val="5"/>
              </a:spcBef>
            </a:pPr>
            <a:r>
              <a:rPr dirty="0" sz="950">
                <a:latin typeface="Tahoma"/>
                <a:cs typeface="Tahoma"/>
              </a:rPr>
              <a:t>Safety</a:t>
            </a:r>
            <a:r>
              <a:rPr dirty="0" sz="950" spc="12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protocols</a:t>
            </a:r>
            <a:r>
              <a:rPr dirty="0" sz="950" spc="145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trigger</a:t>
            </a:r>
            <a:r>
              <a:rPr dirty="0" sz="950" spc="125">
                <a:latin typeface="Tahoma"/>
                <a:cs typeface="Tahoma"/>
              </a:rPr>
              <a:t> </a:t>
            </a:r>
            <a:r>
              <a:rPr dirty="0" sz="950" spc="-20" b="1">
                <a:latin typeface="Tahoma"/>
                <a:cs typeface="Tahoma"/>
              </a:rPr>
              <a:t>before</a:t>
            </a:r>
            <a:r>
              <a:rPr dirty="0" sz="950" spc="60" b="1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the</a:t>
            </a:r>
            <a:r>
              <a:rPr dirty="0" sz="950" spc="95">
                <a:latin typeface="Tahoma"/>
                <a:cs typeface="Tahoma"/>
              </a:rPr>
              <a:t> </a:t>
            </a:r>
            <a:r>
              <a:rPr dirty="0" sz="950" spc="75">
                <a:latin typeface="Tahoma"/>
                <a:cs typeface="Tahoma"/>
              </a:rPr>
              <a:t>LLM</a:t>
            </a:r>
            <a:r>
              <a:rPr dirty="0" sz="950" spc="90">
                <a:latin typeface="Tahoma"/>
                <a:cs typeface="Tahoma"/>
              </a:rPr>
              <a:t> </a:t>
            </a:r>
            <a:r>
              <a:rPr dirty="0" sz="950" spc="55">
                <a:latin typeface="Tahoma"/>
                <a:cs typeface="Tahoma"/>
              </a:rPr>
              <a:t>processes</a:t>
            </a:r>
            <a:r>
              <a:rPr dirty="0" sz="950" spc="120">
                <a:latin typeface="Tahoma"/>
                <a:cs typeface="Tahoma"/>
              </a:rPr>
              <a:t> </a:t>
            </a:r>
            <a:r>
              <a:rPr dirty="0" sz="950" spc="-25">
                <a:latin typeface="Tahoma"/>
                <a:cs typeface="Tahoma"/>
              </a:rPr>
              <a:t>the </a:t>
            </a:r>
            <a:r>
              <a:rPr dirty="0" sz="950" spc="35">
                <a:latin typeface="Tahoma"/>
                <a:cs typeface="Tahoma"/>
              </a:rPr>
              <a:t>message</a:t>
            </a:r>
            <a:endParaRPr sz="95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275"/>
              </a:spcBef>
            </a:pPr>
            <a:r>
              <a:rPr dirty="0" sz="950">
                <a:latin typeface="Tahoma"/>
                <a:cs typeface="Tahoma"/>
              </a:rPr>
              <a:t>Explicit</a:t>
            </a:r>
            <a:r>
              <a:rPr dirty="0" sz="950" spc="13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content</a:t>
            </a:r>
            <a:r>
              <a:rPr dirty="0" sz="950" spc="125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is</a:t>
            </a:r>
            <a:r>
              <a:rPr dirty="0" sz="950" spc="10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filtered</a:t>
            </a:r>
            <a:r>
              <a:rPr dirty="0" sz="950" spc="110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to</a:t>
            </a:r>
            <a:r>
              <a:rPr dirty="0" sz="950" spc="125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maintain</a:t>
            </a:r>
            <a:r>
              <a:rPr dirty="0" sz="950" spc="155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a</a:t>
            </a:r>
            <a:r>
              <a:rPr dirty="0" sz="950" spc="125">
                <a:latin typeface="Tahoma"/>
                <a:cs typeface="Tahoma"/>
              </a:rPr>
              <a:t> </a:t>
            </a:r>
            <a:r>
              <a:rPr dirty="0" sz="950">
                <a:latin typeface="Tahoma"/>
                <a:cs typeface="Tahoma"/>
              </a:rPr>
              <a:t>safe</a:t>
            </a:r>
            <a:r>
              <a:rPr dirty="0" sz="950" spc="114">
                <a:latin typeface="Tahoma"/>
                <a:cs typeface="Tahoma"/>
              </a:rPr>
              <a:t> </a:t>
            </a:r>
            <a:r>
              <a:rPr dirty="0" sz="950" spc="-10">
                <a:latin typeface="Tahoma"/>
                <a:cs typeface="Tahoma"/>
              </a:rPr>
              <a:t>conversational</a:t>
            </a:r>
            <a:endParaRPr sz="95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75"/>
              </a:spcBef>
            </a:pPr>
            <a:r>
              <a:rPr dirty="0" sz="950" spc="-10">
                <a:latin typeface="Tahoma"/>
                <a:cs typeface="Tahoma"/>
              </a:rPr>
              <a:t>environment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10779" y="4853350"/>
            <a:ext cx="1094740" cy="262255"/>
          </a:xfrm>
          <a:custGeom>
            <a:avLst/>
            <a:gdLst/>
            <a:ahLst/>
            <a:cxnLst/>
            <a:rect l="l" t="t" r="r" b="b"/>
            <a:pathLst>
              <a:path w="1094740" h="262254">
                <a:moveTo>
                  <a:pt x="1094308" y="0"/>
                </a:moveTo>
                <a:lnTo>
                  <a:pt x="0" y="0"/>
                </a:lnTo>
                <a:lnTo>
                  <a:pt x="0" y="262242"/>
                </a:lnTo>
                <a:lnTo>
                  <a:pt x="1094308" y="262242"/>
                </a:lnTo>
                <a:lnTo>
                  <a:pt x="1094308" y="0"/>
                </a:lnTo>
                <a:close/>
              </a:path>
            </a:pathLst>
          </a:custGeom>
          <a:solidFill>
            <a:srgbClr val="2E30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3514" y="665175"/>
            <a:ext cx="471487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Upgrades</a:t>
            </a:r>
            <a:r>
              <a:rPr dirty="0" spc="10"/>
              <a:t> </a:t>
            </a:r>
            <a:r>
              <a:rPr dirty="0" spc="130"/>
              <a:t>from</a:t>
            </a:r>
            <a:r>
              <a:rPr dirty="0" spc="30"/>
              <a:t> </a:t>
            </a:r>
            <a:r>
              <a:rPr dirty="0" spc="140"/>
              <a:t>the</a:t>
            </a:r>
            <a:r>
              <a:rPr dirty="0" spc="40"/>
              <a:t> </a:t>
            </a:r>
            <a:r>
              <a:rPr dirty="0" spc="80"/>
              <a:t>Minor</a:t>
            </a:r>
            <a:r>
              <a:rPr dirty="0" spc="20"/>
              <a:t> </a:t>
            </a:r>
            <a:r>
              <a:rPr dirty="0" spc="75"/>
              <a:t>Project</a:t>
            </a:r>
          </a:p>
        </p:txBody>
      </p:sp>
      <p:sp>
        <p:nvSpPr>
          <p:cNvPr id="4" name="object 4"/>
          <p:cNvSpPr/>
          <p:nvPr/>
        </p:nvSpPr>
        <p:spPr>
          <a:xfrm>
            <a:off x="496112" y="1333372"/>
            <a:ext cx="1849755" cy="233679"/>
          </a:xfrm>
          <a:custGeom>
            <a:avLst/>
            <a:gdLst/>
            <a:ahLst/>
            <a:cxnLst/>
            <a:rect l="l" t="t" r="r" b="b"/>
            <a:pathLst>
              <a:path w="1849755" h="233680">
                <a:moveTo>
                  <a:pt x="1843100" y="0"/>
                </a:moveTo>
                <a:lnTo>
                  <a:pt x="6667" y="0"/>
                </a:lnTo>
                <a:lnTo>
                  <a:pt x="0" y="6730"/>
                </a:lnTo>
                <a:lnTo>
                  <a:pt x="0" y="14986"/>
                </a:lnTo>
                <a:lnTo>
                  <a:pt x="0" y="226567"/>
                </a:lnTo>
                <a:lnTo>
                  <a:pt x="6667" y="233299"/>
                </a:lnTo>
                <a:lnTo>
                  <a:pt x="1843100" y="233299"/>
                </a:lnTo>
                <a:lnTo>
                  <a:pt x="1849704" y="226567"/>
                </a:lnTo>
                <a:lnTo>
                  <a:pt x="1849704" y="6730"/>
                </a:lnTo>
                <a:lnTo>
                  <a:pt x="1843100" y="0"/>
                </a:lnTo>
                <a:close/>
              </a:path>
            </a:pathLst>
          </a:custGeom>
          <a:solidFill>
            <a:srgbClr val="1107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3514" y="1376553"/>
            <a:ext cx="8100059" cy="895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05"/>
              </a:spcBef>
            </a:pPr>
            <a:r>
              <a:rPr dirty="0" sz="750" spc="70">
                <a:solidFill>
                  <a:srgbClr val="D5D9D6"/>
                </a:solidFill>
                <a:latin typeface="Tahoma"/>
                <a:cs typeface="Tahoma"/>
              </a:rPr>
              <a:t>MAJOR</a:t>
            </a:r>
            <a:r>
              <a:rPr dirty="0" sz="750" spc="-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60">
                <a:solidFill>
                  <a:srgbClr val="D5D9D6"/>
                </a:solidFill>
                <a:latin typeface="Tahoma"/>
                <a:cs typeface="Tahoma"/>
              </a:rPr>
              <a:t>PROJECT</a:t>
            </a:r>
            <a:r>
              <a:rPr dirty="0" sz="750" spc="-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40">
                <a:solidFill>
                  <a:srgbClr val="D5D9D6"/>
                </a:solidFill>
                <a:latin typeface="Tahoma"/>
                <a:cs typeface="Tahoma"/>
              </a:rPr>
              <a:t>ENHANCEMENTS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7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</a:pP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major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project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represents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significant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leap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forward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from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initial</a:t>
            </a:r>
            <a:r>
              <a:rPr dirty="0" sz="95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minor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project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prototype.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Through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model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improvements,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dataset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augmentation,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entirely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new</a:t>
            </a:r>
            <a:r>
              <a:rPr dirty="0" sz="950" spc="11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feature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modules,</a:t>
            </a:r>
            <a:r>
              <a:rPr dirty="0" sz="9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MindCare</a:t>
            </a:r>
            <a:r>
              <a:rPr dirty="0" sz="950" spc="1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AI</a:t>
            </a:r>
            <a:r>
              <a:rPr dirty="0" sz="950" spc="1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has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evolved</a:t>
            </a:r>
            <a:r>
              <a:rPr dirty="0" sz="9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from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basic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emotion</a:t>
            </a:r>
            <a:r>
              <a:rPr dirty="0" sz="9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classifier</a:t>
            </a:r>
            <a:r>
              <a:rPr dirty="0" sz="950" spc="11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into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full-featured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mental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wellness platform.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6112" y="2441067"/>
            <a:ext cx="2634615" cy="2004695"/>
            <a:chOff x="496112" y="2441067"/>
            <a:chExt cx="2634615" cy="2004695"/>
          </a:xfrm>
        </p:grpSpPr>
        <p:sp>
          <p:nvSpPr>
            <p:cNvPr id="7" name="object 7"/>
            <p:cNvSpPr/>
            <p:nvPr/>
          </p:nvSpPr>
          <p:spPr>
            <a:xfrm>
              <a:off x="496112" y="2441067"/>
              <a:ext cx="2634615" cy="2004695"/>
            </a:xfrm>
            <a:custGeom>
              <a:avLst/>
              <a:gdLst/>
              <a:ahLst/>
              <a:cxnLst/>
              <a:rect l="l" t="t" r="r" b="b"/>
              <a:pathLst>
                <a:path w="2634615" h="2004695">
                  <a:moveTo>
                    <a:pt x="2616022" y="0"/>
                  </a:moveTo>
                  <a:lnTo>
                    <a:pt x="18605" y="0"/>
                  </a:lnTo>
                  <a:lnTo>
                    <a:pt x="11363" y="1470"/>
                  </a:lnTo>
                  <a:lnTo>
                    <a:pt x="5449" y="5476"/>
                  </a:lnTo>
                  <a:lnTo>
                    <a:pt x="1462" y="11412"/>
                  </a:lnTo>
                  <a:lnTo>
                    <a:pt x="0" y="18668"/>
                  </a:lnTo>
                  <a:lnTo>
                    <a:pt x="0" y="1985975"/>
                  </a:lnTo>
                  <a:lnTo>
                    <a:pt x="1462" y="1993216"/>
                  </a:lnTo>
                  <a:lnTo>
                    <a:pt x="5449" y="1999130"/>
                  </a:lnTo>
                  <a:lnTo>
                    <a:pt x="11363" y="2003118"/>
                  </a:lnTo>
                  <a:lnTo>
                    <a:pt x="18605" y="2004580"/>
                  </a:lnTo>
                  <a:lnTo>
                    <a:pt x="2616022" y="2004580"/>
                  </a:lnTo>
                  <a:lnTo>
                    <a:pt x="2623205" y="2003118"/>
                  </a:lnTo>
                  <a:lnTo>
                    <a:pt x="2629103" y="1999130"/>
                  </a:lnTo>
                  <a:lnTo>
                    <a:pt x="2633095" y="1993216"/>
                  </a:lnTo>
                  <a:lnTo>
                    <a:pt x="2634564" y="1985975"/>
                  </a:lnTo>
                  <a:lnTo>
                    <a:pt x="2634564" y="18668"/>
                  </a:lnTo>
                  <a:lnTo>
                    <a:pt x="2633095" y="11412"/>
                  </a:lnTo>
                  <a:lnTo>
                    <a:pt x="2629103" y="5476"/>
                  </a:lnTo>
                  <a:lnTo>
                    <a:pt x="2623205" y="1470"/>
                  </a:lnTo>
                  <a:lnTo>
                    <a:pt x="2616022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0090" y="2565019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10">
                  <a:moveTo>
                    <a:pt x="186042" y="0"/>
                  </a:moveTo>
                  <a:lnTo>
                    <a:pt x="136582" y="6646"/>
                  </a:lnTo>
                  <a:lnTo>
                    <a:pt x="92139" y="25404"/>
                  </a:lnTo>
                  <a:lnTo>
                    <a:pt x="54487" y="54498"/>
                  </a:lnTo>
                  <a:lnTo>
                    <a:pt x="25398" y="92154"/>
                  </a:lnTo>
                  <a:lnTo>
                    <a:pt x="6645" y="136598"/>
                  </a:lnTo>
                  <a:lnTo>
                    <a:pt x="0" y="186055"/>
                  </a:lnTo>
                  <a:lnTo>
                    <a:pt x="6645" y="235511"/>
                  </a:lnTo>
                  <a:lnTo>
                    <a:pt x="25398" y="279955"/>
                  </a:lnTo>
                  <a:lnTo>
                    <a:pt x="54487" y="317611"/>
                  </a:lnTo>
                  <a:lnTo>
                    <a:pt x="92139" y="346705"/>
                  </a:lnTo>
                  <a:lnTo>
                    <a:pt x="136582" y="365463"/>
                  </a:lnTo>
                  <a:lnTo>
                    <a:pt x="186042" y="372110"/>
                  </a:lnTo>
                  <a:lnTo>
                    <a:pt x="235496" y="365463"/>
                  </a:lnTo>
                  <a:lnTo>
                    <a:pt x="279935" y="346705"/>
                  </a:lnTo>
                  <a:lnTo>
                    <a:pt x="317585" y="317611"/>
                  </a:lnTo>
                  <a:lnTo>
                    <a:pt x="346673" y="279955"/>
                  </a:lnTo>
                  <a:lnTo>
                    <a:pt x="365426" y="235511"/>
                  </a:lnTo>
                  <a:lnTo>
                    <a:pt x="372071" y="186055"/>
                  </a:lnTo>
                  <a:lnTo>
                    <a:pt x="365426" y="136598"/>
                  </a:lnTo>
                  <a:lnTo>
                    <a:pt x="346673" y="92154"/>
                  </a:lnTo>
                  <a:lnTo>
                    <a:pt x="317585" y="54498"/>
                  </a:lnTo>
                  <a:lnTo>
                    <a:pt x="279935" y="25404"/>
                  </a:lnTo>
                  <a:lnTo>
                    <a:pt x="235496" y="6646"/>
                  </a:lnTo>
                  <a:lnTo>
                    <a:pt x="186042" y="0"/>
                  </a:lnTo>
                  <a:close/>
                </a:path>
              </a:pathLst>
            </a:custGeom>
            <a:solidFill>
              <a:srgbClr val="AC9E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704" y="2670890"/>
              <a:ext cx="148913" cy="16037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07568" y="3040126"/>
            <a:ext cx="2362200" cy="1242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Model</a:t>
            </a:r>
            <a:r>
              <a:rPr dirty="0" sz="1200" spc="11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45">
                <a:solidFill>
                  <a:srgbClr val="D5D9D6"/>
                </a:solidFill>
                <a:latin typeface="Arial MT"/>
                <a:cs typeface="Arial MT"/>
              </a:rPr>
              <a:t>Accuracy:</a:t>
            </a:r>
            <a:r>
              <a:rPr dirty="0" sz="1200" spc="8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D5D9D6"/>
                </a:solidFill>
                <a:latin typeface="Arial MT"/>
                <a:cs typeface="Arial MT"/>
              </a:rPr>
              <a:t>+15.64%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555"/>
              </a:spcBef>
            </a:pPr>
            <a:r>
              <a:rPr dirty="0" sz="950" spc="30">
                <a:solidFill>
                  <a:srgbClr val="D5D9D6"/>
                </a:solidFill>
                <a:latin typeface="Tahoma"/>
                <a:cs typeface="Tahoma"/>
              </a:rPr>
              <a:t>Classification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accuracy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30">
                <a:solidFill>
                  <a:srgbClr val="D5D9D6"/>
                </a:solidFill>
                <a:latin typeface="Tahoma"/>
                <a:cs typeface="Tahoma"/>
              </a:rPr>
              <a:t>improved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D5D9D6"/>
                </a:solidFill>
                <a:latin typeface="Tahoma"/>
                <a:cs typeface="Tahoma"/>
              </a:rPr>
              <a:t>from </a:t>
            </a:r>
            <a:r>
              <a:rPr dirty="0" sz="950" spc="-85" b="1">
                <a:solidFill>
                  <a:srgbClr val="D5D9D6"/>
                </a:solidFill>
                <a:latin typeface="Tahoma"/>
                <a:cs typeface="Tahoma"/>
              </a:rPr>
              <a:t>57.50%</a:t>
            </a:r>
            <a:r>
              <a:rPr dirty="0" sz="950" spc="1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65" b="1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950" spc="5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10" b="1">
                <a:solidFill>
                  <a:srgbClr val="D5D9D6"/>
                </a:solidFill>
                <a:latin typeface="Tahoma"/>
                <a:cs typeface="Tahoma"/>
              </a:rPr>
              <a:t>73.14%</a:t>
            </a:r>
            <a:r>
              <a:rPr dirty="0" sz="950" spc="1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by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upgrading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v3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DistilBERT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model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augmenting</a:t>
            </a:r>
            <a:r>
              <a:rPr dirty="0" sz="9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D5D9D6"/>
                </a:solidFill>
                <a:latin typeface="Tahoma"/>
                <a:cs typeface="Tahoma"/>
              </a:rPr>
              <a:t>the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training</a:t>
            </a:r>
            <a:r>
              <a:rPr dirty="0" sz="9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dataset</a:t>
            </a:r>
            <a:r>
              <a:rPr dirty="0" sz="950" spc="1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additional</a:t>
            </a:r>
            <a:r>
              <a:rPr dirty="0" sz="950" spc="2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labeled utterances.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54628" y="2441067"/>
            <a:ext cx="2634615" cy="2004695"/>
            <a:chOff x="3254628" y="2441067"/>
            <a:chExt cx="2634615" cy="2004695"/>
          </a:xfrm>
        </p:grpSpPr>
        <p:sp>
          <p:nvSpPr>
            <p:cNvPr id="12" name="object 12"/>
            <p:cNvSpPr/>
            <p:nvPr/>
          </p:nvSpPr>
          <p:spPr>
            <a:xfrm>
              <a:off x="3254628" y="2441067"/>
              <a:ext cx="2634615" cy="2004695"/>
            </a:xfrm>
            <a:custGeom>
              <a:avLst/>
              <a:gdLst/>
              <a:ahLst/>
              <a:cxnLst/>
              <a:rect l="l" t="t" r="r" b="b"/>
              <a:pathLst>
                <a:path w="2634615" h="2004695">
                  <a:moveTo>
                    <a:pt x="2616073" y="0"/>
                  </a:moveTo>
                  <a:lnTo>
                    <a:pt x="18669" y="0"/>
                  </a:lnTo>
                  <a:lnTo>
                    <a:pt x="11412" y="1470"/>
                  </a:lnTo>
                  <a:lnTo>
                    <a:pt x="5476" y="5476"/>
                  </a:lnTo>
                  <a:lnTo>
                    <a:pt x="1470" y="11412"/>
                  </a:lnTo>
                  <a:lnTo>
                    <a:pt x="0" y="18668"/>
                  </a:lnTo>
                  <a:lnTo>
                    <a:pt x="0" y="1985975"/>
                  </a:lnTo>
                  <a:lnTo>
                    <a:pt x="1470" y="1993216"/>
                  </a:lnTo>
                  <a:lnTo>
                    <a:pt x="5476" y="1999130"/>
                  </a:lnTo>
                  <a:lnTo>
                    <a:pt x="11412" y="2003118"/>
                  </a:lnTo>
                  <a:lnTo>
                    <a:pt x="18669" y="2004580"/>
                  </a:lnTo>
                  <a:lnTo>
                    <a:pt x="2616073" y="2004580"/>
                  </a:lnTo>
                  <a:lnTo>
                    <a:pt x="2623310" y="2003118"/>
                  </a:lnTo>
                  <a:lnTo>
                    <a:pt x="2629201" y="1999130"/>
                  </a:lnTo>
                  <a:lnTo>
                    <a:pt x="2633164" y="1993216"/>
                  </a:lnTo>
                  <a:lnTo>
                    <a:pt x="2634615" y="1985975"/>
                  </a:lnTo>
                  <a:lnTo>
                    <a:pt x="2634615" y="18668"/>
                  </a:lnTo>
                  <a:lnTo>
                    <a:pt x="2633164" y="11412"/>
                  </a:lnTo>
                  <a:lnTo>
                    <a:pt x="2629201" y="5476"/>
                  </a:lnTo>
                  <a:lnTo>
                    <a:pt x="2623310" y="1470"/>
                  </a:lnTo>
                  <a:lnTo>
                    <a:pt x="2616073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78580" y="2565019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10" h="372110">
                  <a:moveTo>
                    <a:pt x="186055" y="0"/>
                  </a:moveTo>
                  <a:lnTo>
                    <a:pt x="136598" y="6646"/>
                  </a:lnTo>
                  <a:lnTo>
                    <a:pt x="92154" y="25404"/>
                  </a:lnTo>
                  <a:lnTo>
                    <a:pt x="54498" y="54498"/>
                  </a:lnTo>
                  <a:lnTo>
                    <a:pt x="25404" y="92154"/>
                  </a:lnTo>
                  <a:lnTo>
                    <a:pt x="6646" y="136598"/>
                  </a:lnTo>
                  <a:lnTo>
                    <a:pt x="0" y="186055"/>
                  </a:lnTo>
                  <a:lnTo>
                    <a:pt x="6646" y="235511"/>
                  </a:lnTo>
                  <a:lnTo>
                    <a:pt x="25404" y="279955"/>
                  </a:lnTo>
                  <a:lnTo>
                    <a:pt x="54498" y="317611"/>
                  </a:lnTo>
                  <a:lnTo>
                    <a:pt x="92154" y="346705"/>
                  </a:lnTo>
                  <a:lnTo>
                    <a:pt x="136598" y="365463"/>
                  </a:lnTo>
                  <a:lnTo>
                    <a:pt x="186055" y="372110"/>
                  </a:lnTo>
                  <a:lnTo>
                    <a:pt x="235511" y="365463"/>
                  </a:lnTo>
                  <a:lnTo>
                    <a:pt x="279955" y="346705"/>
                  </a:lnTo>
                  <a:lnTo>
                    <a:pt x="317611" y="317611"/>
                  </a:lnTo>
                  <a:lnTo>
                    <a:pt x="346705" y="279955"/>
                  </a:lnTo>
                  <a:lnTo>
                    <a:pt x="365463" y="235511"/>
                  </a:lnTo>
                  <a:lnTo>
                    <a:pt x="372110" y="186055"/>
                  </a:lnTo>
                  <a:lnTo>
                    <a:pt x="365463" y="136598"/>
                  </a:lnTo>
                  <a:lnTo>
                    <a:pt x="346705" y="92154"/>
                  </a:lnTo>
                  <a:lnTo>
                    <a:pt x="317611" y="54498"/>
                  </a:lnTo>
                  <a:lnTo>
                    <a:pt x="279955" y="25404"/>
                  </a:lnTo>
                  <a:lnTo>
                    <a:pt x="235511" y="6646"/>
                  </a:lnTo>
                  <a:lnTo>
                    <a:pt x="186055" y="0"/>
                  </a:lnTo>
                  <a:close/>
                </a:path>
              </a:pathLst>
            </a:custGeom>
            <a:solidFill>
              <a:srgbClr val="AC9E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4461" y="2671465"/>
              <a:ext cx="160471" cy="15921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366261" y="3040126"/>
            <a:ext cx="2171700" cy="1242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New</a:t>
            </a:r>
            <a:r>
              <a:rPr dirty="0" sz="1200" spc="-1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D5D9D6"/>
                </a:solidFill>
                <a:latin typeface="Arial MT"/>
                <a:cs typeface="Arial MT"/>
              </a:rPr>
              <a:t>Analytics</a:t>
            </a:r>
            <a:r>
              <a:rPr dirty="0" sz="1200" spc="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D5D9D6"/>
                </a:solidFill>
                <a:latin typeface="Arial MT"/>
                <a:cs typeface="Arial MT"/>
              </a:rPr>
              <a:t>Dashboard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555"/>
              </a:spcBef>
            </a:pP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full</a:t>
            </a:r>
            <a:r>
              <a:rPr dirty="0" sz="95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wellness</a:t>
            </a:r>
            <a:r>
              <a:rPr dirty="0" sz="95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dashboard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was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added,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featuring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60" b="1">
                <a:solidFill>
                  <a:srgbClr val="D5D9D6"/>
                </a:solidFill>
                <a:latin typeface="Tahoma"/>
                <a:cs typeface="Tahoma"/>
              </a:rPr>
              <a:t>14-</a:t>
            </a:r>
            <a:r>
              <a:rPr dirty="0" sz="950" spc="-35" b="1">
                <a:solidFill>
                  <a:srgbClr val="D5D9D6"/>
                </a:solidFill>
                <a:latin typeface="Tahoma"/>
                <a:cs typeface="Tahoma"/>
              </a:rPr>
              <a:t>day</a:t>
            </a:r>
            <a:r>
              <a:rPr dirty="0" sz="950" spc="1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 b="1">
                <a:solidFill>
                  <a:srgbClr val="D5D9D6"/>
                </a:solidFill>
                <a:latin typeface="Tahoma"/>
                <a:cs typeface="Tahoma"/>
              </a:rPr>
              <a:t>mood</a:t>
            </a:r>
            <a:r>
              <a:rPr dirty="0" sz="950" spc="5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50" b="1">
                <a:solidFill>
                  <a:srgbClr val="D5D9D6"/>
                </a:solidFill>
                <a:latin typeface="Tahoma"/>
                <a:cs typeface="Tahoma"/>
              </a:rPr>
              <a:t>trend</a:t>
            </a:r>
            <a:r>
              <a:rPr dirty="0" sz="950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D5D9D6"/>
                </a:solidFill>
                <a:latin typeface="Tahoma"/>
                <a:cs typeface="Tahoma"/>
              </a:rPr>
              <a:t>chart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,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daily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mood</a:t>
            </a:r>
            <a:r>
              <a:rPr dirty="0" sz="950" spc="1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logging,</a:t>
            </a:r>
            <a:r>
              <a:rPr dirty="0" sz="9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personalized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wellness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recommendations</a:t>
            </a:r>
            <a:r>
              <a:rPr dirty="0" sz="9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based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D5D9D6"/>
                </a:solidFill>
                <a:latin typeface="Tahoma"/>
                <a:cs typeface="Tahoma"/>
              </a:rPr>
              <a:t>on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user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history.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3196" y="2441067"/>
            <a:ext cx="2634614" cy="200458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125336" y="3040126"/>
            <a:ext cx="2406650" cy="1242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Data</a:t>
            </a:r>
            <a:r>
              <a:rPr dirty="0" sz="1200" spc="17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Export</a:t>
            </a:r>
            <a:r>
              <a:rPr dirty="0" sz="1200" spc="15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45">
                <a:solidFill>
                  <a:srgbClr val="D5D9D6"/>
                </a:solidFill>
                <a:latin typeface="Arial MT"/>
                <a:cs typeface="Arial MT"/>
              </a:rPr>
              <a:t>Capability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2900"/>
              </a:lnSpc>
              <a:spcBef>
                <a:spcPts val="555"/>
              </a:spcBef>
            </a:pP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Users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can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now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export</a:t>
            </a:r>
            <a:r>
              <a:rPr dirty="0" sz="950" spc="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their</a:t>
            </a:r>
            <a:r>
              <a:rPr dirty="0" sz="95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complete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0">
                <a:solidFill>
                  <a:srgbClr val="D5D9D6"/>
                </a:solidFill>
                <a:latin typeface="Tahoma"/>
                <a:cs typeface="Tahoma"/>
              </a:rPr>
              <a:t>chat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history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in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both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b="1">
                <a:solidFill>
                  <a:srgbClr val="D5D9D6"/>
                </a:solidFill>
                <a:latin typeface="Tahoma"/>
                <a:cs typeface="Tahoma"/>
              </a:rPr>
              <a:t>TXT</a:t>
            </a:r>
            <a:r>
              <a:rPr dirty="0" sz="950" spc="3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30" b="1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6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b="1">
                <a:solidFill>
                  <a:srgbClr val="D5D9D6"/>
                </a:solidFill>
                <a:latin typeface="Tahoma"/>
                <a:cs typeface="Tahoma"/>
              </a:rPr>
              <a:t>CSV</a:t>
            </a:r>
            <a:r>
              <a:rPr dirty="0" sz="950" spc="25" b="1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D5D9D6"/>
                </a:solidFill>
                <a:latin typeface="Tahoma"/>
                <a:cs typeface="Tahoma"/>
              </a:rPr>
              <a:t>formats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,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enabling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personal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record-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keeping</a:t>
            </a:r>
            <a:r>
              <a:rPr dirty="0" sz="9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endParaRPr sz="950">
              <a:latin typeface="Tahoma"/>
              <a:cs typeface="Tahoma"/>
            </a:endParaRPr>
          </a:p>
          <a:p>
            <a:pPr marL="12700" marR="342900">
              <a:lnSpc>
                <a:spcPct val="132600"/>
              </a:lnSpc>
              <a:spcBef>
                <a:spcPts val="10"/>
              </a:spcBef>
            </a:pP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potential</a:t>
            </a:r>
            <a:r>
              <a:rPr dirty="0" sz="9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integration</a:t>
            </a:r>
            <a:r>
              <a:rPr dirty="0" sz="950" spc="1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healthcare providers.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10779" y="4853350"/>
            <a:ext cx="1094740" cy="262255"/>
          </a:xfrm>
          <a:custGeom>
            <a:avLst/>
            <a:gdLst/>
            <a:ahLst/>
            <a:cxnLst/>
            <a:rect l="l" t="t" r="r" b="b"/>
            <a:pathLst>
              <a:path w="1094740" h="262254">
                <a:moveTo>
                  <a:pt x="1094308" y="0"/>
                </a:moveTo>
                <a:lnTo>
                  <a:pt x="0" y="0"/>
                </a:lnTo>
                <a:lnTo>
                  <a:pt x="0" y="262242"/>
                </a:lnTo>
                <a:lnTo>
                  <a:pt x="1094308" y="262242"/>
                </a:lnTo>
                <a:lnTo>
                  <a:pt x="1094308" y="0"/>
                </a:lnTo>
                <a:close/>
              </a:path>
            </a:pathLst>
          </a:custGeom>
          <a:solidFill>
            <a:srgbClr val="2E30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242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dirty="0" spc="90"/>
              <a:t>System</a:t>
            </a:r>
            <a:r>
              <a:rPr dirty="0" spc="-65"/>
              <a:t> </a:t>
            </a:r>
            <a:r>
              <a:rPr dirty="0" spc="70"/>
              <a:t>Validation</a:t>
            </a:r>
          </a:p>
        </p:txBody>
      </p:sp>
      <p:sp>
        <p:nvSpPr>
          <p:cNvPr id="4" name="object 4"/>
          <p:cNvSpPr/>
          <p:nvPr/>
        </p:nvSpPr>
        <p:spPr>
          <a:xfrm>
            <a:off x="496112" y="1158239"/>
            <a:ext cx="1130300" cy="233679"/>
          </a:xfrm>
          <a:custGeom>
            <a:avLst/>
            <a:gdLst/>
            <a:ahLst/>
            <a:cxnLst/>
            <a:rect l="l" t="t" r="r" b="b"/>
            <a:pathLst>
              <a:path w="1130300" h="233680">
                <a:moveTo>
                  <a:pt x="1123264" y="0"/>
                </a:moveTo>
                <a:lnTo>
                  <a:pt x="6667" y="0"/>
                </a:lnTo>
                <a:lnTo>
                  <a:pt x="0" y="6604"/>
                </a:lnTo>
                <a:lnTo>
                  <a:pt x="0" y="14859"/>
                </a:lnTo>
                <a:lnTo>
                  <a:pt x="0" y="226440"/>
                </a:lnTo>
                <a:lnTo>
                  <a:pt x="6667" y="233172"/>
                </a:lnTo>
                <a:lnTo>
                  <a:pt x="1123264" y="233172"/>
                </a:lnTo>
                <a:lnTo>
                  <a:pt x="1129868" y="226440"/>
                </a:lnTo>
                <a:lnTo>
                  <a:pt x="1129868" y="6604"/>
                </a:lnTo>
                <a:lnTo>
                  <a:pt x="1123264" y="0"/>
                </a:lnTo>
                <a:close/>
              </a:path>
            </a:pathLst>
          </a:custGeom>
          <a:solidFill>
            <a:srgbClr val="1107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3514" y="1201292"/>
            <a:ext cx="8122920" cy="895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05"/>
              </a:spcBef>
            </a:pPr>
            <a:r>
              <a:rPr dirty="0" sz="750" spc="10">
                <a:solidFill>
                  <a:srgbClr val="D5D9D6"/>
                </a:solidFill>
                <a:latin typeface="Tahoma"/>
                <a:cs typeface="Tahoma"/>
              </a:rPr>
              <a:t>TESTING</a:t>
            </a:r>
            <a:r>
              <a:rPr dirty="0" sz="750" spc="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10">
                <a:solidFill>
                  <a:srgbClr val="D5D9D6"/>
                </a:solidFill>
                <a:latin typeface="Tahoma"/>
                <a:cs typeface="Tahoma"/>
              </a:rPr>
              <a:t>&amp;</a:t>
            </a:r>
            <a:r>
              <a:rPr dirty="0" sz="7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750" spc="40">
                <a:solidFill>
                  <a:srgbClr val="D5D9D6"/>
                </a:solidFill>
                <a:latin typeface="Tahoma"/>
                <a:cs typeface="Tahoma"/>
              </a:rPr>
              <a:t>RESULTS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7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</a:pP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Rigorous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testing</a:t>
            </a:r>
            <a:r>
              <a:rPr dirty="0" sz="95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was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conducted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5">
                <a:solidFill>
                  <a:srgbClr val="D5D9D6"/>
                </a:solidFill>
                <a:latin typeface="Tahoma"/>
                <a:cs typeface="Tahoma"/>
              </a:rPr>
              <a:t>across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all</a:t>
            </a:r>
            <a:r>
              <a:rPr dirty="0" sz="950" spc="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system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components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75">
                <a:solidFill>
                  <a:srgbClr val="D5D9D6"/>
                </a:solidFill>
                <a:latin typeface="Tahoma"/>
                <a:cs typeface="Tahoma"/>
              </a:rPr>
              <a:t>—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from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emotion</a:t>
            </a:r>
            <a:r>
              <a:rPr dirty="0" sz="950" spc="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classifier</a:t>
            </a:r>
            <a:r>
              <a:rPr dirty="0" sz="950" spc="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75">
                <a:solidFill>
                  <a:srgbClr val="D5D9D6"/>
                </a:solidFill>
                <a:latin typeface="Tahoma"/>
                <a:cs typeface="Tahoma"/>
              </a:rPr>
              <a:t>LLM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response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quality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D5D9D6"/>
                </a:solidFill>
                <a:latin typeface="Tahoma"/>
                <a:cs typeface="Tahoma"/>
              </a:rPr>
              <a:t>the multi-</a:t>
            </a:r>
            <a:r>
              <a:rPr dirty="0" sz="950" spc="-20">
                <a:solidFill>
                  <a:srgbClr val="D5D9D6"/>
                </a:solidFill>
                <a:latin typeface="Tahoma"/>
                <a:cs typeface="Tahoma"/>
              </a:rPr>
              <a:t>user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authentication</a:t>
            </a:r>
            <a:r>
              <a:rPr dirty="0" sz="9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system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safety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protocol</a:t>
            </a:r>
            <a:r>
              <a:rPr dirty="0" sz="950" spc="2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triggers.</a:t>
            </a:r>
            <a:r>
              <a:rPr dirty="0" sz="9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Results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confirm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that</a:t>
            </a:r>
            <a:r>
              <a:rPr dirty="0" sz="950" spc="1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MindCare</a:t>
            </a:r>
            <a:r>
              <a:rPr dirty="0" sz="950" spc="20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AI</a:t>
            </a:r>
            <a:r>
              <a:rPr dirty="0" sz="950" spc="10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meets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its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core</a:t>
            </a:r>
            <a:r>
              <a:rPr dirty="0" sz="950" spc="1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design</a:t>
            </a:r>
            <a:r>
              <a:rPr dirty="0" sz="9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objectives</a:t>
            </a:r>
            <a:r>
              <a:rPr dirty="0" sz="950" spc="1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strong,</a:t>
            </a:r>
            <a:r>
              <a:rPr dirty="0" sz="950" spc="1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measurable outcomes.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288" y="2212340"/>
            <a:ext cx="2531745" cy="1322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6129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solidFill>
                  <a:srgbClr val="D5D9D6"/>
                </a:solidFill>
                <a:latin typeface="Arial MT"/>
                <a:cs typeface="Arial MT"/>
              </a:rPr>
              <a:t>73.14%</a:t>
            </a:r>
            <a:endParaRPr sz="3200">
              <a:latin typeface="Arial MT"/>
              <a:cs typeface="Arial MT"/>
            </a:endParaRPr>
          </a:p>
          <a:p>
            <a:pPr algn="ctr" marR="161925">
              <a:lnSpc>
                <a:spcPct val="100000"/>
              </a:lnSpc>
              <a:spcBef>
                <a:spcPts val="1345"/>
              </a:spcBef>
            </a:pPr>
            <a:r>
              <a:rPr dirty="0" sz="1200" spc="20">
                <a:solidFill>
                  <a:srgbClr val="D5D9D6"/>
                </a:solidFill>
                <a:latin typeface="Arial MT"/>
                <a:cs typeface="Arial MT"/>
              </a:rPr>
              <a:t>Emotion</a:t>
            </a:r>
            <a:r>
              <a:rPr dirty="0" sz="1200" spc="21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D5D9D6"/>
                </a:solidFill>
                <a:latin typeface="Arial MT"/>
                <a:cs typeface="Arial MT"/>
              </a:rPr>
              <a:t>Classification</a:t>
            </a:r>
            <a:r>
              <a:rPr dirty="0" sz="1200" spc="17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D5D9D6"/>
                </a:solidFill>
                <a:latin typeface="Arial MT"/>
                <a:cs typeface="Arial MT"/>
              </a:rPr>
              <a:t>Accuracy</a:t>
            </a:r>
            <a:endParaRPr sz="1200">
              <a:latin typeface="Arial MT"/>
              <a:cs typeface="Arial MT"/>
            </a:endParaRPr>
          </a:p>
          <a:p>
            <a:pPr marL="723900" marR="5080" indent="-651510">
              <a:lnSpc>
                <a:spcPct val="132600"/>
              </a:lnSpc>
              <a:spcBef>
                <a:spcPts val="565"/>
              </a:spcBef>
            </a:pP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Achieved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dirty="0" sz="950" spc="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9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held-out</a:t>
            </a:r>
            <a:r>
              <a:rPr dirty="0" sz="9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test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set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using</a:t>
            </a:r>
            <a:r>
              <a:rPr dirty="0" sz="950" spc="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25">
                <a:solidFill>
                  <a:srgbClr val="D5D9D6"/>
                </a:solidFill>
                <a:latin typeface="Tahoma"/>
                <a:cs typeface="Tahoma"/>
              </a:rPr>
              <a:t>the 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v3</a:t>
            </a:r>
            <a:r>
              <a:rPr dirty="0" sz="950" spc="7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DistilBERT</a:t>
            </a:r>
            <a:r>
              <a:rPr dirty="0" sz="9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model</a:t>
            </a:r>
            <a:endParaRPr sz="9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3848" y="2212340"/>
            <a:ext cx="2401570" cy="1322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03200">
              <a:lnSpc>
                <a:spcPct val="100000"/>
              </a:lnSpc>
              <a:spcBef>
                <a:spcPts val="100"/>
              </a:spcBef>
            </a:pPr>
            <a:r>
              <a:rPr dirty="0" sz="3200" spc="285">
                <a:solidFill>
                  <a:srgbClr val="D5D9D6"/>
                </a:solidFill>
                <a:latin typeface="Arial MT"/>
                <a:cs typeface="Arial MT"/>
              </a:rPr>
              <a:t>50</a:t>
            </a:r>
            <a:endParaRPr sz="3200">
              <a:latin typeface="Arial MT"/>
              <a:cs typeface="Arial MT"/>
            </a:endParaRPr>
          </a:p>
          <a:p>
            <a:pPr algn="ctr" marR="20574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Sample</a:t>
            </a:r>
            <a:r>
              <a:rPr dirty="0" sz="1200" spc="2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D5D9D6"/>
                </a:solidFill>
                <a:latin typeface="Arial MT"/>
                <a:cs typeface="Arial MT"/>
              </a:rPr>
              <a:t>Interactions</a:t>
            </a:r>
            <a:r>
              <a:rPr dirty="0" sz="1200" spc="7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D5D9D6"/>
                </a:solidFill>
                <a:latin typeface="Arial MT"/>
                <a:cs typeface="Arial MT"/>
              </a:rPr>
              <a:t>Reviewed</a:t>
            </a:r>
            <a:endParaRPr sz="1200">
              <a:latin typeface="Arial MT"/>
              <a:cs typeface="Arial MT"/>
            </a:endParaRPr>
          </a:p>
          <a:p>
            <a:pPr marL="248920" marR="5080" indent="-219710">
              <a:lnSpc>
                <a:spcPct val="132600"/>
              </a:lnSpc>
              <a:spcBef>
                <a:spcPts val="565"/>
              </a:spcBef>
            </a:pP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Qualitative</a:t>
            </a:r>
            <a:r>
              <a:rPr dirty="0" sz="950" spc="1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review</a:t>
            </a:r>
            <a:r>
              <a:rPr dirty="0" sz="9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confirmed</a:t>
            </a:r>
            <a:r>
              <a:rPr dirty="0" sz="950" spc="1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contextually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congruent,</a:t>
            </a:r>
            <a:r>
              <a:rPr dirty="0" sz="950" spc="19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empathetic</a:t>
            </a:r>
            <a:r>
              <a:rPr dirty="0" sz="950" spc="204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40">
                <a:solidFill>
                  <a:srgbClr val="D5D9D6"/>
                </a:solidFill>
                <a:latin typeface="Tahoma"/>
                <a:cs typeface="Tahoma"/>
              </a:rPr>
              <a:t>responses</a:t>
            </a:r>
            <a:endParaRPr sz="9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2585" y="2212340"/>
            <a:ext cx="2240915" cy="1515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02565">
              <a:lnSpc>
                <a:spcPct val="100000"/>
              </a:lnSpc>
              <a:spcBef>
                <a:spcPts val="100"/>
              </a:spcBef>
            </a:pPr>
            <a:r>
              <a:rPr dirty="0" sz="3200" spc="-20">
                <a:solidFill>
                  <a:srgbClr val="D5D9D6"/>
                </a:solidFill>
                <a:latin typeface="Arial MT"/>
                <a:cs typeface="Arial MT"/>
              </a:rPr>
              <a:t>100%</a:t>
            </a:r>
            <a:endParaRPr sz="3200">
              <a:latin typeface="Arial MT"/>
              <a:cs typeface="Arial MT"/>
            </a:endParaRPr>
          </a:p>
          <a:p>
            <a:pPr algn="ctr" marR="19939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Crisis</a:t>
            </a:r>
            <a:r>
              <a:rPr dirty="0" sz="1200" spc="9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5D9D6"/>
                </a:solidFill>
                <a:latin typeface="Arial MT"/>
                <a:cs typeface="Arial MT"/>
              </a:rPr>
              <a:t>Message</a:t>
            </a:r>
            <a:r>
              <a:rPr dirty="0" sz="1200" spc="135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D5D9D6"/>
                </a:solidFill>
                <a:latin typeface="Arial MT"/>
                <a:cs typeface="Arial MT"/>
              </a:rPr>
              <a:t>Interception</a:t>
            </a:r>
            <a:endParaRPr sz="1200">
              <a:latin typeface="Arial MT"/>
              <a:cs typeface="Arial MT"/>
            </a:endParaRPr>
          </a:p>
          <a:p>
            <a:pPr algn="ctr" marL="29845" marR="5080" indent="635">
              <a:lnSpc>
                <a:spcPct val="132600"/>
              </a:lnSpc>
              <a:spcBef>
                <a:spcPts val="565"/>
              </a:spcBef>
            </a:pPr>
            <a:r>
              <a:rPr dirty="0" sz="950">
                <a:solidFill>
                  <a:srgbClr val="D5D9D6"/>
                </a:solidFill>
                <a:latin typeface="Tahoma"/>
                <a:cs typeface="Tahoma"/>
              </a:rPr>
              <a:t>All test</a:t>
            </a:r>
            <a:r>
              <a:rPr dirty="0" sz="950" spc="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crisis</a:t>
            </a:r>
            <a:r>
              <a:rPr dirty="0" sz="950" spc="-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D5D9D6"/>
                </a:solidFill>
                <a:latin typeface="Tahoma"/>
                <a:cs typeface="Tahoma"/>
              </a:rPr>
              <a:t>messages</a:t>
            </a:r>
            <a:r>
              <a:rPr dirty="0" sz="950" spc="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D5D9D6"/>
                </a:solidFill>
                <a:latin typeface="Tahoma"/>
                <a:cs typeface="Tahoma"/>
              </a:rPr>
              <a:t>successfully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triggered</a:t>
            </a:r>
            <a:r>
              <a:rPr dirty="0" sz="950" spc="1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safety</a:t>
            </a:r>
            <a:r>
              <a:rPr dirty="0" sz="9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protocols</a:t>
            </a:r>
            <a:r>
              <a:rPr dirty="0" sz="9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950" spc="1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5D9D6"/>
                </a:solidFill>
                <a:latin typeface="Tahoma"/>
                <a:cs typeface="Tahoma"/>
              </a:rPr>
              <a:t>helpline routing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96112" y="3895356"/>
            <a:ext cx="8152130" cy="725805"/>
            <a:chOff x="496112" y="3895356"/>
            <a:chExt cx="8152130" cy="725805"/>
          </a:xfrm>
        </p:grpSpPr>
        <p:sp>
          <p:nvSpPr>
            <p:cNvPr id="10" name="object 10"/>
            <p:cNvSpPr/>
            <p:nvPr/>
          </p:nvSpPr>
          <p:spPr>
            <a:xfrm>
              <a:off x="496112" y="3895356"/>
              <a:ext cx="8152130" cy="725805"/>
            </a:xfrm>
            <a:custGeom>
              <a:avLst/>
              <a:gdLst/>
              <a:ahLst/>
              <a:cxnLst/>
              <a:rect l="l" t="t" r="r" b="b"/>
              <a:pathLst>
                <a:path w="8152130" h="725804">
                  <a:moveTo>
                    <a:pt x="8133156" y="0"/>
                  </a:moveTo>
                  <a:lnTo>
                    <a:pt x="18605" y="0"/>
                  </a:lnTo>
                  <a:lnTo>
                    <a:pt x="11363" y="1462"/>
                  </a:lnTo>
                  <a:lnTo>
                    <a:pt x="5449" y="5449"/>
                  </a:lnTo>
                  <a:lnTo>
                    <a:pt x="1462" y="11363"/>
                  </a:lnTo>
                  <a:lnTo>
                    <a:pt x="0" y="18605"/>
                  </a:lnTo>
                  <a:lnTo>
                    <a:pt x="0" y="706856"/>
                  </a:lnTo>
                  <a:lnTo>
                    <a:pt x="1462" y="714098"/>
                  </a:lnTo>
                  <a:lnTo>
                    <a:pt x="5449" y="720012"/>
                  </a:lnTo>
                  <a:lnTo>
                    <a:pt x="11363" y="723999"/>
                  </a:lnTo>
                  <a:lnTo>
                    <a:pt x="18605" y="725462"/>
                  </a:lnTo>
                  <a:lnTo>
                    <a:pt x="8133156" y="725462"/>
                  </a:lnTo>
                  <a:lnTo>
                    <a:pt x="8140413" y="723999"/>
                  </a:lnTo>
                  <a:lnTo>
                    <a:pt x="8146348" y="720012"/>
                  </a:lnTo>
                  <a:lnTo>
                    <a:pt x="8150354" y="714098"/>
                  </a:lnTo>
                  <a:lnTo>
                    <a:pt x="8151825" y="706856"/>
                  </a:lnTo>
                  <a:lnTo>
                    <a:pt x="8151825" y="18605"/>
                  </a:lnTo>
                  <a:lnTo>
                    <a:pt x="8150354" y="11363"/>
                  </a:lnTo>
                  <a:lnTo>
                    <a:pt x="8146348" y="5449"/>
                  </a:lnTo>
                  <a:lnTo>
                    <a:pt x="8140413" y="1462"/>
                  </a:lnTo>
                  <a:lnTo>
                    <a:pt x="8133156" y="0"/>
                  </a:lnTo>
                  <a:close/>
                </a:path>
              </a:pathLst>
            </a:custGeom>
            <a:solidFill>
              <a:srgbClr val="1739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90" y="4084666"/>
              <a:ext cx="155003" cy="12397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86460" y="4015960"/>
            <a:ext cx="7625715" cy="4095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95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complete</a:t>
            </a:r>
            <a:r>
              <a:rPr dirty="0" sz="950" spc="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multi-user</a:t>
            </a:r>
            <a:r>
              <a:rPr dirty="0" sz="95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FFFFFF"/>
                </a:solidFill>
                <a:latin typeface="Tahoma"/>
                <a:cs typeface="Tahoma"/>
              </a:rPr>
              <a:t>account</a:t>
            </a:r>
            <a:r>
              <a:rPr dirty="0" sz="950" spc="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dirty="0" sz="950" spc="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7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950" spc="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including</a:t>
            </a:r>
            <a:r>
              <a:rPr dirty="0" sz="950" spc="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secure</a:t>
            </a:r>
            <a:r>
              <a:rPr dirty="0" sz="950" spc="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45">
                <a:solidFill>
                  <a:srgbClr val="FFFFFF"/>
                </a:solidFill>
                <a:latin typeface="Tahoma"/>
                <a:cs typeface="Tahoma"/>
              </a:rPr>
              <a:t>password</a:t>
            </a:r>
            <a:r>
              <a:rPr dirty="0" sz="95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hashing,</a:t>
            </a:r>
            <a:r>
              <a:rPr dirty="0" sz="950" spc="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Tahoma"/>
                <a:cs typeface="Tahoma"/>
              </a:rPr>
              <a:t>session</a:t>
            </a:r>
            <a:r>
              <a:rPr dirty="0" sz="950" spc="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management,</a:t>
            </a:r>
            <a:r>
              <a:rPr dirty="0" sz="950" spc="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950" spc="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persistent</a:t>
            </a:r>
            <a:r>
              <a:rPr dirty="0" sz="950" spc="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dirty="0" sz="95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dirty="0" sz="950" spc="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2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950" spc="55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dirty="0" sz="950" spc="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Tahoma"/>
                <a:cs typeface="Tahoma"/>
              </a:rPr>
              <a:t>validated</a:t>
            </a:r>
            <a:r>
              <a:rPr dirty="0" sz="950" spc="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950" spc="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dirty="0" sz="950" spc="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Tahoma"/>
                <a:cs typeface="Tahoma"/>
              </a:rPr>
              <a:t>flawlessly</a:t>
            </a:r>
            <a:r>
              <a:rPr dirty="0" sz="950" spc="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Tahoma"/>
                <a:cs typeface="Tahoma"/>
              </a:rPr>
              <a:t>across</a:t>
            </a:r>
            <a:r>
              <a:rPr dirty="0" sz="950" spc="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Tahoma"/>
                <a:cs typeface="Tahoma"/>
              </a:rPr>
              <a:t>concurrent</a:t>
            </a:r>
            <a:r>
              <a:rPr dirty="0" sz="950" spc="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dirty="0" sz="950" spc="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Tahoma"/>
                <a:cs typeface="Tahoma"/>
              </a:rPr>
              <a:t>sessions.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-1"/>
            <a:ext cx="3429000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1640" y="317372"/>
            <a:ext cx="18827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Looking</a:t>
            </a:r>
            <a:r>
              <a:rPr dirty="0" sz="2100" spc="229"/>
              <a:t> </a:t>
            </a:r>
            <a:r>
              <a:rPr dirty="0" sz="2100" spc="60"/>
              <a:t>Ahead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434136" y="828166"/>
            <a:ext cx="1479550" cy="195580"/>
          </a:xfrm>
          <a:custGeom>
            <a:avLst/>
            <a:gdLst/>
            <a:ahLst/>
            <a:cxnLst/>
            <a:rect l="l" t="t" r="r" b="b"/>
            <a:pathLst>
              <a:path w="1479550" h="195580">
                <a:moveTo>
                  <a:pt x="1473657" y="0"/>
                </a:moveTo>
                <a:lnTo>
                  <a:pt x="5829" y="0"/>
                </a:lnTo>
                <a:lnTo>
                  <a:pt x="0" y="5842"/>
                </a:lnTo>
                <a:lnTo>
                  <a:pt x="0" y="13081"/>
                </a:lnTo>
                <a:lnTo>
                  <a:pt x="0" y="189484"/>
                </a:lnTo>
                <a:lnTo>
                  <a:pt x="5829" y="195325"/>
                </a:lnTo>
                <a:lnTo>
                  <a:pt x="1473657" y="195325"/>
                </a:lnTo>
                <a:lnTo>
                  <a:pt x="1479499" y="189484"/>
                </a:lnTo>
                <a:lnTo>
                  <a:pt x="1479499" y="5842"/>
                </a:lnTo>
                <a:lnTo>
                  <a:pt x="1473657" y="0"/>
                </a:lnTo>
                <a:close/>
              </a:path>
            </a:pathLst>
          </a:custGeom>
          <a:solidFill>
            <a:srgbClr val="1107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21640" y="859027"/>
            <a:ext cx="4594860" cy="751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D5D9D6"/>
                </a:solidFill>
                <a:latin typeface="Tahoma"/>
                <a:cs typeface="Tahoma"/>
              </a:rPr>
              <a:t>CONCLUSION</a:t>
            </a:r>
            <a:r>
              <a:rPr dirty="0" sz="650" spc="1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650">
                <a:solidFill>
                  <a:srgbClr val="D5D9D6"/>
                </a:solidFill>
                <a:latin typeface="Tahoma"/>
                <a:cs typeface="Tahoma"/>
              </a:rPr>
              <a:t>&amp;</a:t>
            </a:r>
            <a:r>
              <a:rPr dirty="0" sz="650" spc="1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650">
                <a:solidFill>
                  <a:srgbClr val="D5D9D6"/>
                </a:solidFill>
                <a:latin typeface="Tahoma"/>
                <a:cs typeface="Tahoma"/>
              </a:rPr>
              <a:t>FUTURE</a:t>
            </a:r>
            <a:r>
              <a:rPr dirty="0" sz="650" spc="20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650" spc="-20">
                <a:solidFill>
                  <a:srgbClr val="D5D9D6"/>
                </a:solidFill>
                <a:latin typeface="Tahoma"/>
                <a:cs typeface="Tahoma"/>
              </a:rPr>
              <a:t>SCOPE</a:t>
            </a:r>
            <a:endParaRPr sz="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650">
              <a:latin typeface="Tahoma"/>
              <a:cs typeface="Tahoma"/>
            </a:endParaRPr>
          </a:p>
          <a:p>
            <a:pPr marL="12700" marR="5080">
              <a:lnSpc>
                <a:spcPct val="124800"/>
              </a:lnSpc>
            </a:pP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MindCare</a:t>
            </a:r>
            <a:r>
              <a:rPr dirty="0" sz="8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AI</a:t>
            </a:r>
            <a:r>
              <a:rPr dirty="0" sz="8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successfully</a:t>
            </a:r>
            <a:r>
              <a:rPr dirty="0" sz="850" spc="2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demonstrates</a:t>
            </a:r>
            <a:r>
              <a:rPr dirty="0" sz="850" spc="2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that</a:t>
            </a:r>
            <a:r>
              <a:rPr dirty="0" sz="8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emotionally</a:t>
            </a:r>
            <a:r>
              <a:rPr dirty="0" sz="850" spc="19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intelligent,</a:t>
            </a:r>
            <a:r>
              <a:rPr dirty="0" sz="850" spc="2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AI-powered</a:t>
            </a:r>
            <a:r>
              <a:rPr dirty="0" sz="850" spc="18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D5D9D6"/>
                </a:solidFill>
                <a:latin typeface="Tahoma"/>
                <a:cs typeface="Tahoma"/>
              </a:rPr>
              <a:t>mental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wellness</a:t>
            </a:r>
            <a:r>
              <a:rPr dirty="0" sz="850" spc="12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support</a:t>
            </a:r>
            <a:r>
              <a:rPr dirty="0" sz="850" spc="1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is</a:t>
            </a:r>
            <a:r>
              <a:rPr dirty="0" sz="8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achievable</a:t>
            </a:r>
            <a:r>
              <a:rPr dirty="0" sz="850" spc="8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dirty="0" sz="850" spc="12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modern</a:t>
            </a:r>
            <a:r>
              <a:rPr dirty="0" sz="850" spc="16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65">
                <a:solidFill>
                  <a:srgbClr val="D5D9D6"/>
                </a:solidFill>
                <a:latin typeface="Tahoma"/>
                <a:cs typeface="Tahoma"/>
              </a:rPr>
              <a:t>NLP</a:t>
            </a:r>
            <a:r>
              <a:rPr dirty="0" sz="8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techniques.</a:t>
            </a:r>
            <a:r>
              <a:rPr dirty="0" sz="850" spc="17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45">
                <a:solidFill>
                  <a:srgbClr val="D5D9D6"/>
                </a:solidFill>
                <a:latin typeface="Tahoma"/>
                <a:cs typeface="Tahoma"/>
              </a:rPr>
              <a:t>It</a:t>
            </a:r>
            <a:r>
              <a:rPr dirty="0" sz="850" spc="13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bridges</a:t>
            </a:r>
            <a:r>
              <a:rPr dirty="0" sz="850" spc="13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the</a:t>
            </a:r>
            <a:r>
              <a:rPr dirty="0" sz="850" spc="15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>
                <a:solidFill>
                  <a:srgbClr val="D5D9D6"/>
                </a:solidFill>
                <a:latin typeface="Tahoma"/>
                <a:cs typeface="Tahoma"/>
              </a:rPr>
              <a:t>critical</a:t>
            </a:r>
            <a:r>
              <a:rPr dirty="0" sz="8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25">
                <a:solidFill>
                  <a:srgbClr val="D5D9D6"/>
                </a:solidFill>
                <a:latin typeface="Tahoma"/>
                <a:cs typeface="Tahoma"/>
              </a:rPr>
              <a:t>gap </a:t>
            </a:r>
            <a:r>
              <a:rPr dirty="0" sz="850" spc="20">
                <a:solidFill>
                  <a:srgbClr val="D5D9D6"/>
                </a:solidFill>
                <a:latin typeface="Tahoma"/>
                <a:cs typeface="Tahoma"/>
              </a:rPr>
              <a:t>between</a:t>
            </a:r>
            <a:r>
              <a:rPr dirty="0" sz="850" spc="5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D5D9D6"/>
                </a:solidFill>
                <a:latin typeface="Tahoma"/>
                <a:cs typeface="Tahoma"/>
              </a:rPr>
              <a:t>rigid</a:t>
            </a:r>
            <a:r>
              <a:rPr dirty="0" sz="85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D5D9D6"/>
                </a:solidFill>
                <a:latin typeface="Tahoma"/>
                <a:cs typeface="Tahoma"/>
              </a:rPr>
              <a:t>rule-based</a:t>
            </a:r>
            <a:r>
              <a:rPr dirty="0" sz="850" spc="6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D5D9D6"/>
                </a:solidFill>
                <a:latin typeface="Tahoma"/>
                <a:cs typeface="Tahoma"/>
              </a:rPr>
              <a:t>chatbots</a:t>
            </a:r>
            <a:r>
              <a:rPr dirty="0" sz="8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dirty="0" sz="8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D5D9D6"/>
                </a:solidFill>
                <a:latin typeface="Tahoma"/>
                <a:cs typeface="Tahoma"/>
              </a:rPr>
              <a:t>genuinely</a:t>
            </a:r>
            <a:r>
              <a:rPr dirty="0" sz="850" spc="4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D5D9D6"/>
                </a:solidFill>
                <a:latin typeface="Tahoma"/>
                <a:cs typeface="Tahoma"/>
              </a:rPr>
              <a:t>empathetic</a:t>
            </a:r>
            <a:r>
              <a:rPr dirty="0" sz="850" spc="4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20">
                <a:solidFill>
                  <a:srgbClr val="D5D9D6"/>
                </a:solidFill>
                <a:latin typeface="Tahoma"/>
                <a:cs typeface="Tahoma"/>
              </a:rPr>
              <a:t>conversational</a:t>
            </a:r>
            <a:r>
              <a:rPr dirty="0" sz="850" spc="15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D5D9D6"/>
                </a:solidFill>
                <a:latin typeface="Tahoma"/>
                <a:cs typeface="Tahoma"/>
              </a:rPr>
              <a:t>companions.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6993" y="1718405"/>
            <a:ext cx="4861560" cy="974725"/>
            <a:chOff x="426993" y="1718405"/>
            <a:chExt cx="4861560" cy="974725"/>
          </a:xfrm>
        </p:grpSpPr>
        <p:sp>
          <p:nvSpPr>
            <p:cNvPr id="7" name="object 7"/>
            <p:cNvSpPr/>
            <p:nvPr/>
          </p:nvSpPr>
          <p:spPr>
            <a:xfrm>
              <a:off x="434136" y="1725548"/>
              <a:ext cx="4846955" cy="960755"/>
            </a:xfrm>
            <a:custGeom>
              <a:avLst/>
              <a:gdLst/>
              <a:ahLst/>
              <a:cxnLst/>
              <a:rect l="l" t="t" r="r" b="b"/>
              <a:pathLst>
                <a:path w="4846955" h="960755">
                  <a:moveTo>
                    <a:pt x="4839411" y="0"/>
                  </a:moveTo>
                  <a:lnTo>
                    <a:pt x="7277" y="0"/>
                  </a:lnTo>
                  <a:lnTo>
                    <a:pt x="0" y="7238"/>
                  </a:lnTo>
                  <a:lnTo>
                    <a:pt x="0" y="16255"/>
                  </a:lnTo>
                  <a:lnTo>
                    <a:pt x="0" y="953134"/>
                  </a:lnTo>
                  <a:lnTo>
                    <a:pt x="7277" y="960374"/>
                  </a:lnTo>
                  <a:lnTo>
                    <a:pt x="4839411" y="960374"/>
                  </a:lnTo>
                  <a:lnTo>
                    <a:pt x="4846777" y="953134"/>
                  </a:lnTo>
                  <a:lnTo>
                    <a:pt x="4846777" y="7238"/>
                  </a:lnTo>
                  <a:lnTo>
                    <a:pt x="4839411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34136" y="1725548"/>
              <a:ext cx="4846955" cy="960755"/>
            </a:xfrm>
            <a:custGeom>
              <a:avLst/>
              <a:gdLst/>
              <a:ahLst/>
              <a:cxnLst/>
              <a:rect l="l" t="t" r="r" b="b"/>
              <a:pathLst>
                <a:path w="4846955" h="960755">
                  <a:moveTo>
                    <a:pt x="0" y="16255"/>
                  </a:moveTo>
                  <a:lnTo>
                    <a:pt x="0" y="7238"/>
                  </a:lnTo>
                  <a:lnTo>
                    <a:pt x="7277" y="0"/>
                  </a:lnTo>
                  <a:lnTo>
                    <a:pt x="16268" y="0"/>
                  </a:lnTo>
                  <a:lnTo>
                    <a:pt x="4830394" y="0"/>
                  </a:lnTo>
                  <a:lnTo>
                    <a:pt x="4839411" y="0"/>
                  </a:lnTo>
                  <a:lnTo>
                    <a:pt x="4846777" y="7238"/>
                  </a:lnTo>
                  <a:lnTo>
                    <a:pt x="4846777" y="16255"/>
                  </a:lnTo>
                  <a:lnTo>
                    <a:pt x="4846777" y="944118"/>
                  </a:lnTo>
                  <a:lnTo>
                    <a:pt x="4846777" y="953134"/>
                  </a:lnTo>
                  <a:lnTo>
                    <a:pt x="4839411" y="960374"/>
                  </a:lnTo>
                  <a:lnTo>
                    <a:pt x="4830394" y="960374"/>
                  </a:lnTo>
                  <a:lnTo>
                    <a:pt x="16268" y="960374"/>
                  </a:lnTo>
                  <a:lnTo>
                    <a:pt x="7277" y="960374"/>
                  </a:lnTo>
                  <a:lnTo>
                    <a:pt x="0" y="953134"/>
                  </a:lnTo>
                  <a:lnTo>
                    <a:pt x="0" y="944118"/>
                  </a:lnTo>
                  <a:lnTo>
                    <a:pt x="0" y="16255"/>
                  </a:lnTo>
                  <a:close/>
                </a:path>
              </a:pathLst>
            </a:custGeom>
            <a:ln w="14287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48424" y="1739811"/>
              <a:ext cx="434340" cy="932180"/>
            </a:xfrm>
            <a:custGeom>
              <a:avLst/>
              <a:gdLst/>
              <a:ahLst/>
              <a:cxnLst/>
              <a:rect l="l" t="t" r="r" b="b"/>
              <a:pathLst>
                <a:path w="434340" h="932180">
                  <a:moveTo>
                    <a:pt x="434136" y="0"/>
                  </a:moveTo>
                  <a:lnTo>
                    <a:pt x="0" y="0"/>
                  </a:lnTo>
                  <a:lnTo>
                    <a:pt x="0" y="931887"/>
                  </a:lnTo>
                  <a:lnTo>
                    <a:pt x="434136" y="931887"/>
                  </a:lnTo>
                  <a:lnTo>
                    <a:pt x="434136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4136" y="1725548"/>
          <a:ext cx="4923155" cy="960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/>
                <a:gridCol w="4398010"/>
              </a:tblGrid>
              <a:tr h="96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 spc="10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Multilingual</a:t>
                      </a:r>
                      <a:r>
                        <a:rPr dirty="0" sz="1050" spc="180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50" spc="35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Support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94615" marR="261620">
                        <a:lnSpc>
                          <a:spcPct val="124700"/>
                        </a:lnSpc>
                        <a:spcBef>
                          <a:spcPts val="445"/>
                        </a:spcBef>
                      </a:pP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Extend</a:t>
                      </a:r>
                      <a:r>
                        <a:rPr dirty="0" sz="850" spc="7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emotion</a:t>
                      </a:r>
                      <a:r>
                        <a:rPr dirty="0" sz="850" spc="9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detection</a:t>
                      </a:r>
                      <a:r>
                        <a:rPr dirty="0" sz="850" spc="8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50" spc="8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response</a:t>
                      </a:r>
                      <a:r>
                        <a:rPr dirty="0" sz="850" spc="114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generation</a:t>
                      </a:r>
                      <a:r>
                        <a:rPr dirty="0" sz="850" spc="7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850" spc="9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multiple</a:t>
                      </a:r>
                      <a:r>
                        <a:rPr dirty="0" sz="850" spc="8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languages</a:t>
                      </a:r>
                      <a:r>
                        <a:rPr dirty="0" sz="850" spc="6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using </a:t>
                      </a:r>
                      <a:r>
                        <a:rPr dirty="0" sz="850" spc="-3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mBERT</a:t>
                      </a:r>
                      <a:r>
                        <a:rPr dirty="0" sz="850" spc="45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850" spc="6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XLM-</a:t>
                      </a:r>
                      <a:r>
                        <a:rPr dirty="0" sz="850" spc="-35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ROBERTa</a:t>
                      </a:r>
                      <a:r>
                        <a:rPr dirty="0" sz="850" spc="-3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850" spc="3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making</a:t>
                      </a:r>
                      <a:r>
                        <a:rPr dirty="0" sz="850" spc="5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MindCare</a:t>
                      </a:r>
                      <a:r>
                        <a:rPr dirty="0" sz="850" spc="6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850" spc="7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4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accessible</a:t>
                      </a:r>
                      <a:r>
                        <a:rPr dirty="0" sz="850" spc="8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850" spc="6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850" spc="-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English 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speakers</a:t>
                      </a:r>
                      <a:r>
                        <a:rPr dirty="0" sz="850" spc="21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globally.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114935"/>
                </a:tc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789" y="2127674"/>
            <a:ext cx="155699" cy="155971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26993" y="2773775"/>
            <a:ext cx="4861560" cy="975360"/>
            <a:chOff x="426993" y="2773775"/>
            <a:chExt cx="4861560" cy="975360"/>
          </a:xfrm>
        </p:grpSpPr>
        <p:sp>
          <p:nvSpPr>
            <p:cNvPr id="13" name="object 13"/>
            <p:cNvSpPr/>
            <p:nvPr/>
          </p:nvSpPr>
          <p:spPr>
            <a:xfrm>
              <a:off x="434136" y="2780919"/>
              <a:ext cx="4846955" cy="960755"/>
            </a:xfrm>
            <a:custGeom>
              <a:avLst/>
              <a:gdLst/>
              <a:ahLst/>
              <a:cxnLst/>
              <a:rect l="l" t="t" r="r" b="b"/>
              <a:pathLst>
                <a:path w="4846955" h="960754">
                  <a:moveTo>
                    <a:pt x="4839411" y="0"/>
                  </a:moveTo>
                  <a:lnTo>
                    <a:pt x="7277" y="0"/>
                  </a:lnTo>
                  <a:lnTo>
                    <a:pt x="0" y="7238"/>
                  </a:lnTo>
                  <a:lnTo>
                    <a:pt x="0" y="16256"/>
                  </a:lnTo>
                  <a:lnTo>
                    <a:pt x="0" y="953135"/>
                  </a:lnTo>
                  <a:lnTo>
                    <a:pt x="7277" y="960501"/>
                  </a:lnTo>
                  <a:lnTo>
                    <a:pt x="4839411" y="960501"/>
                  </a:lnTo>
                  <a:lnTo>
                    <a:pt x="4846777" y="953135"/>
                  </a:lnTo>
                  <a:lnTo>
                    <a:pt x="4846777" y="7238"/>
                  </a:lnTo>
                  <a:lnTo>
                    <a:pt x="4839411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4136" y="2780919"/>
              <a:ext cx="4846955" cy="960755"/>
            </a:xfrm>
            <a:custGeom>
              <a:avLst/>
              <a:gdLst/>
              <a:ahLst/>
              <a:cxnLst/>
              <a:rect l="l" t="t" r="r" b="b"/>
              <a:pathLst>
                <a:path w="4846955" h="960754">
                  <a:moveTo>
                    <a:pt x="0" y="16256"/>
                  </a:moveTo>
                  <a:lnTo>
                    <a:pt x="0" y="7238"/>
                  </a:lnTo>
                  <a:lnTo>
                    <a:pt x="7277" y="0"/>
                  </a:lnTo>
                  <a:lnTo>
                    <a:pt x="16268" y="0"/>
                  </a:lnTo>
                  <a:lnTo>
                    <a:pt x="4830394" y="0"/>
                  </a:lnTo>
                  <a:lnTo>
                    <a:pt x="4839411" y="0"/>
                  </a:lnTo>
                  <a:lnTo>
                    <a:pt x="4846777" y="7238"/>
                  </a:lnTo>
                  <a:lnTo>
                    <a:pt x="4846777" y="16256"/>
                  </a:lnTo>
                  <a:lnTo>
                    <a:pt x="4846777" y="944244"/>
                  </a:lnTo>
                  <a:lnTo>
                    <a:pt x="4846777" y="953135"/>
                  </a:lnTo>
                  <a:lnTo>
                    <a:pt x="4839411" y="960501"/>
                  </a:lnTo>
                  <a:lnTo>
                    <a:pt x="4830394" y="960501"/>
                  </a:lnTo>
                  <a:lnTo>
                    <a:pt x="16268" y="960501"/>
                  </a:lnTo>
                  <a:lnTo>
                    <a:pt x="7277" y="960501"/>
                  </a:lnTo>
                  <a:lnTo>
                    <a:pt x="0" y="953135"/>
                  </a:lnTo>
                  <a:lnTo>
                    <a:pt x="0" y="944244"/>
                  </a:lnTo>
                  <a:lnTo>
                    <a:pt x="0" y="16256"/>
                  </a:lnTo>
                  <a:close/>
                </a:path>
              </a:pathLst>
            </a:custGeom>
            <a:ln w="14287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8424" y="2795181"/>
              <a:ext cx="434340" cy="932180"/>
            </a:xfrm>
            <a:custGeom>
              <a:avLst/>
              <a:gdLst/>
              <a:ahLst/>
              <a:cxnLst/>
              <a:rect l="l" t="t" r="r" b="b"/>
              <a:pathLst>
                <a:path w="434340" h="932179">
                  <a:moveTo>
                    <a:pt x="434136" y="0"/>
                  </a:moveTo>
                  <a:lnTo>
                    <a:pt x="0" y="0"/>
                  </a:lnTo>
                  <a:lnTo>
                    <a:pt x="0" y="931887"/>
                  </a:lnTo>
                  <a:lnTo>
                    <a:pt x="434136" y="931887"/>
                  </a:lnTo>
                  <a:lnTo>
                    <a:pt x="434136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34136" y="2780919"/>
          <a:ext cx="4923155" cy="960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/>
                <a:gridCol w="4398010"/>
              </a:tblGrid>
              <a:tr h="96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050" spc="165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50" spc="35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94615" marR="195580">
                        <a:lnSpc>
                          <a:spcPct val="124700"/>
                        </a:lnSpc>
                        <a:spcBef>
                          <a:spcPts val="450"/>
                        </a:spcBef>
                      </a:pP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Develop</a:t>
                      </a:r>
                      <a:r>
                        <a:rPr dirty="0" sz="850" spc="13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850" spc="12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native</a:t>
                      </a:r>
                      <a:r>
                        <a:rPr dirty="0" sz="850" spc="1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mobile</a:t>
                      </a:r>
                      <a:r>
                        <a:rPr dirty="0" sz="850" spc="16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experience</a:t>
                      </a:r>
                      <a:r>
                        <a:rPr dirty="0" sz="850" spc="13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using</a:t>
                      </a:r>
                      <a:r>
                        <a:rPr dirty="0" sz="850" spc="15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3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React</a:t>
                      </a:r>
                      <a:r>
                        <a:rPr dirty="0" sz="850" spc="10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35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Native</a:t>
                      </a:r>
                      <a:r>
                        <a:rPr dirty="0" sz="850" spc="-3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850" spc="10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enabling</a:t>
                      </a:r>
                      <a:r>
                        <a:rPr dirty="0" sz="850" spc="13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on-the-</a:t>
                      </a:r>
                      <a:r>
                        <a:rPr dirty="0" sz="850" spc="2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go </a:t>
                      </a:r>
                      <a:r>
                        <a:rPr dirty="0" sz="850" spc="6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850" spc="-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to mental</a:t>
                      </a:r>
                      <a:r>
                        <a:rPr dirty="0" sz="850" spc="1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wellness</a:t>
                      </a:r>
                      <a:r>
                        <a:rPr dirty="0" sz="850" spc="-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dirty="0" sz="850" spc="1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850" spc="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push</a:t>
                      </a:r>
                      <a:r>
                        <a:rPr dirty="0" sz="850" spc="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850" spc="-4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850" spc="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daily</a:t>
                      </a:r>
                      <a:r>
                        <a:rPr dirty="0" sz="850" spc="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mood</a:t>
                      </a:r>
                      <a:r>
                        <a:rPr dirty="0" sz="850" spc="-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check-</a:t>
                      </a:r>
                      <a:r>
                        <a:rPr dirty="0" sz="850" spc="-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ins.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114935"/>
                </a:tc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142" y="3183191"/>
            <a:ext cx="98646" cy="155957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26993" y="3829145"/>
            <a:ext cx="4861560" cy="975360"/>
            <a:chOff x="426993" y="3829145"/>
            <a:chExt cx="4861560" cy="975360"/>
          </a:xfrm>
        </p:grpSpPr>
        <p:sp>
          <p:nvSpPr>
            <p:cNvPr id="19" name="object 19"/>
            <p:cNvSpPr/>
            <p:nvPr/>
          </p:nvSpPr>
          <p:spPr>
            <a:xfrm>
              <a:off x="434136" y="3836289"/>
              <a:ext cx="4846955" cy="960755"/>
            </a:xfrm>
            <a:custGeom>
              <a:avLst/>
              <a:gdLst/>
              <a:ahLst/>
              <a:cxnLst/>
              <a:rect l="l" t="t" r="r" b="b"/>
              <a:pathLst>
                <a:path w="4846955" h="960754">
                  <a:moveTo>
                    <a:pt x="4839411" y="0"/>
                  </a:moveTo>
                  <a:lnTo>
                    <a:pt x="7277" y="0"/>
                  </a:lnTo>
                  <a:lnTo>
                    <a:pt x="0" y="7366"/>
                  </a:lnTo>
                  <a:lnTo>
                    <a:pt x="0" y="16383"/>
                  </a:lnTo>
                  <a:lnTo>
                    <a:pt x="0" y="953223"/>
                  </a:lnTo>
                  <a:lnTo>
                    <a:pt x="7277" y="960513"/>
                  </a:lnTo>
                  <a:lnTo>
                    <a:pt x="4839411" y="960513"/>
                  </a:lnTo>
                  <a:lnTo>
                    <a:pt x="4846777" y="953223"/>
                  </a:lnTo>
                  <a:lnTo>
                    <a:pt x="4846777" y="7366"/>
                  </a:lnTo>
                  <a:lnTo>
                    <a:pt x="4839411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4136" y="3836289"/>
              <a:ext cx="4846955" cy="960755"/>
            </a:xfrm>
            <a:custGeom>
              <a:avLst/>
              <a:gdLst/>
              <a:ahLst/>
              <a:cxnLst/>
              <a:rect l="l" t="t" r="r" b="b"/>
              <a:pathLst>
                <a:path w="4846955" h="960754">
                  <a:moveTo>
                    <a:pt x="0" y="16383"/>
                  </a:moveTo>
                  <a:lnTo>
                    <a:pt x="0" y="7366"/>
                  </a:lnTo>
                  <a:lnTo>
                    <a:pt x="7277" y="0"/>
                  </a:lnTo>
                  <a:lnTo>
                    <a:pt x="16268" y="0"/>
                  </a:lnTo>
                  <a:lnTo>
                    <a:pt x="4830394" y="0"/>
                  </a:lnTo>
                  <a:lnTo>
                    <a:pt x="4839411" y="0"/>
                  </a:lnTo>
                  <a:lnTo>
                    <a:pt x="4846777" y="7366"/>
                  </a:lnTo>
                  <a:lnTo>
                    <a:pt x="4846777" y="16383"/>
                  </a:lnTo>
                  <a:lnTo>
                    <a:pt x="4846777" y="944232"/>
                  </a:lnTo>
                  <a:lnTo>
                    <a:pt x="4846777" y="953223"/>
                  </a:lnTo>
                  <a:lnTo>
                    <a:pt x="4839411" y="960513"/>
                  </a:lnTo>
                  <a:lnTo>
                    <a:pt x="4830394" y="960513"/>
                  </a:lnTo>
                  <a:lnTo>
                    <a:pt x="16268" y="960513"/>
                  </a:lnTo>
                  <a:lnTo>
                    <a:pt x="7277" y="960513"/>
                  </a:lnTo>
                  <a:lnTo>
                    <a:pt x="0" y="953223"/>
                  </a:lnTo>
                  <a:lnTo>
                    <a:pt x="0" y="944232"/>
                  </a:lnTo>
                  <a:lnTo>
                    <a:pt x="0" y="16383"/>
                  </a:lnTo>
                  <a:close/>
                </a:path>
              </a:pathLst>
            </a:custGeom>
            <a:ln w="14287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8424" y="3850627"/>
              <a:ext cx="434340" cy="932180"/>
            </a:xfrm>
            <a:custGeom>
              <a:avLst/>
              <a:gdLst/>
              <a:ahLst/>
              <a:cxnLst/>
              <a:rect l="l" t="t" r="r" b="b"/>
              <a:pathLst>
                <a:path w="434340" h="932179">
                  <a:moveTo>
                    <a:pt x="434136" y="0"/>
                  </a:moveTo>
                  <a:lnTo>
                    <a:pt x="0" y="0"/>
                  </a:lnTo>
                  <a:lnTo>
                    <a:pt x="0" y="931887"/>
                  </a:lnTo>
                  <a:lnTo>
                    <a:pt x="434136" y="931887"/>
                  </a:lnTo>
                  <a:lnTo>
                    <a:pt x="434136" y="0"/>
                  </a:lnTo>
                  <a:close/>
                </a:path>
              </a:pathLst>
            </a:custGeom>
            <a:solidFill>
              <a:srgbClr val="4B5052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4136" y="3836289"/>
          <a:ext cx="4923155" cy="960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/>
                <a:gridCol w="4398010"/>
              </a:tblGrid>
              <a:tr h="96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sz="1050" spc="-40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CBT</a:t>
                      </a:r>
                      <a:r>
                        <a:rPr dirty="0" sz="1050" spc="-20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50" spc="-10">
                          <a:solidFill>
                            <a:srgbClr val="D5D9D6"/>
                          </a:solidFill>
                          <a:latin typeface="Arial MT"/>
                          <a:cs typeface="Arial MT"/>
                        </a:rPr>
                        <a:t>Integration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94615" marR="422909">
                        <a:lnSpc>
                          <a:spcPct val="124800"/>
                        </a:lnSpc>
                        <a:spcBef>
                          <a:spcPts val="445"/>
                        </a:spcBef>
                      </a:pP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Incorporate</a:t>
                      </a:r>
                      <a:r>
                        <a:rPr dirty="0" sz="850" spc="6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formal</a:t>
                      </a:r>
                      <a:r>
                        <a:rPr dirty="0" sz="850" spc="8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3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Cognitive</a:t>
                      </a:r>
                      <a:r>
                        <a:rPr dirty="0" sz="850" spc="35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4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Behavioural</a:t>
                      </a:r>
                      <a:r>
                        <a:rPr dirty="0" sz="850" spc="6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5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Therapy</a:t>
                      </a:r>
                      <a:r>
                        <a:rPr dirty="0" sz="850" spc="5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3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(CBT)</a:t>
                      </a:r>
                      <a:r>
                        <a:rPr dirty="0" sz="850" spc="70" b="1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techniques</a:t>
                      </a:r>
                      <a:r>
                        <a:rPr dirty="0" sz="850" spc="10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into</a:t>
                      </a:r>
                      <a:r>
                        <a:rPr dirty="0" sz="850" spc="8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AI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50" spc="6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prompts,</a:t>
                      </a:r>
                      <a:r>
                        <a:rPr dirty="0" sz="850" spc="7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enabling</a:t>
                      </a:r>
                      <a:r>
                        <a:rPr dirty="0" sz="850" spc="3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structured</a:t>
                      </a:r>
                      <a:r>
                        <a:rPr dirty="0" sz="850" spc="3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therapeutic</a:t>
                      </a:r>
                      <a:r>
                        <a:rPr dirty="0" sz="850" spc="4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2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conversations grounded</a:t>
                      </a:r>
                      <a:r>
                        <a:rPr dirty="0" sz="850" spc="1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5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dirty="0" sz="8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evidence-based</a:t>
                      </a:r>
                      <a:r>
                        <a:rPr dirty="0" sz="850" spc="15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 </a:t>
                      </a:r>
                      <a:r>
                        <a:rPr dirty="0" sz="850" spc="-1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practice.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115570"/>
                </a:tc>
              </a:tr>
            </a:tbl>
          </a:graphicData>
        </a:graphic>
      </p:graphicFrame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803" y="4244362"/>
            <a:ext cx="155659" cy="144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06876" y="2219705"/>
            <a:ext cx="248221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dirty="0" sz="40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25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Kinjol</dc:creator>
  <dc:subject>avepdf.com - Free Online PDF and Document Tools</dc:subject>
  <dcterms:created xsi:type="dcterms:W3CDTF">2026-05-18T20:12:31Z</dcterms:created>
  <dcterms:modified xsi:type="dcterms:W3CDTF">2026-05-18T20:12:31Z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2026-05-19T00:00:00Z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2026-05-18T00:00:00Z</vt:filetime>
  </property>
  <property fmtid="{D5CDD505-2E9C-101B-9397-08002B2CF9AE}" pid="6" name="Producer">
    <vt:lpwstr>PassportPDF</vt:lpwstr>
  </property>
</Properties>
</file>